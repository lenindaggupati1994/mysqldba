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drawings/drawing1.xml" ContentType="application/vnd.openxmlformats-officedocument.drawingml.chartshape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4"/>
  </p:sldMasterIdLst>
  <p:notesMasterIdLst>
    <p:notesMasterId r:id="rId18"/>
  </p:notesMasterIdLst>
  <p:sldIdLst>
    <p:sldId id="1280" r:id="rId5"/>
    <p:sldId id="1296" r:id="rId6"/>
    <p:sldId id="1298" r:id="rId7"/>
    <p:sldId id="1299" r:id="rId8"/>
    <p:sldId id="1302" r:id="rId9"/>
    <p:sldId id="1304" r:id="rId10"/>
    <p:sldId id="1305" r:id="rId11"/>
    <p:sldId id="1310" r:id="rId12"/>
    <p:sldId id="1311" r:id="rId13"/>
    <p:sldId id="1285" r:id="rId14"/>
    <p:sldId id="1313" r:id="rId15"/>
    <p:sldId id="1307" r:id="rId16"/>
    <p:sldId id="126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5CD9C2F-7AF7-459E-8D6B-3BC80F8CF6CB}">
          <p14:sldIdLst>
            <p14:sldId id="1280"/>
            <p14:sldId id="1296"/>
            <p14:sldId id="1298"/>
            <p14:sldId id="1299"/>
            <p14:sldId id="1302"/>
            <p14:sldId id="1304"/>
            <p14:sldId id="1305"/>
            <p14:sldId id="1310"/>
            <p14:sldId id="1311"/>
            <p14:sldId id="1285"/>
            <p14:sldId id="1313"/>
            <p14:sldId id="1307"/>
            <p14:sldId id="1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wapnil Yeole" initials="SY" lastIdx="5" clrIdx="0">
    <p:extLst>
      <p:ext uri="{19B8F6BF-5375-455C-9EA6-DF929625EA0E}">
        <p15:presenceInfo xmlns:p15="http://schemas.microsoft.com/office/powerpoint/2012/main" userId="S::swapnil.yeole@zensar.com::9767f693-9d91-4e15-bba2-9a64d087a39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A1CFE2-5C1D-425F-A5BD-18037AD9A81A}" v="24" dt="2025-07-02T05:31:21.387"/>
  </p1510:revLst>
</p1510:revInfo>
</file>

<file path=ppt/tableStyles.xml><?xml version="1.0" encoding="utf-8"?>
<a:tblStyleLst xmlns:a="http://schemas.openxmlformats.org/drawingml/2006/main" def="{5C22544A-7EE6-4342-B048-85BDC9FD1C3A}"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SK67254\Desktop\Monthly%20Report%20Omni%20DBA%20Support%20June_2025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SK67254\Desktop\Monthly%20Report%20Omni%20DBA%20Support%20June_2025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SK67254\Desktop\Monthly%20Report%20Omni%20DBA%20Support%20June_2025.xlsx" TargetMode="External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file:///C:\Users\dp61507\Documents\OMNI%20Jobs%20Documents\Omni%20Monthly%20Reports\Monthly%20Report%20Jan2024\Monthly%20Report%20Omni%20SQL%20DBA%20Support%20Mar_2025.xls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800" b="1" i="0" u="none" strike="noStrike" baseline="0">
                <a:solidFill>
                  <a:srgbClr val="F2F2F2"/>
                </a:solidFill>
                <a:latin typeface="Calibri"/>
                <a:ea typeface="Calibri"/>
                <a:cs typeface="Calibri"/>
              </a:defRPr>
            </a:pPr>
            <a:r>
              <a:rPr lang="en-US"/>
              <a:t>Monthly Tasks Trends Summary -2025</a:t>
            </a:r>
          </a:p>
        </c:rich>
      </c:tx>
      <c:layout>
        <c:manualLayout>
          <c:xMode val="edge"/>
          <c:yMode val="edge"/>
          <c:x val="0.1644913483550888"/>
          <c:y val="0.16466374712913415"/>
        </c:manualLayout>
      </c:layout>
      <c:overlay val="0"/>
      <c:spPr>
        <a:noFill/>
        <a:ln w="25400"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0.31963659737182026"/>
          <c:y val="0.45382935184371115"/>
          <c:w val="0.58319659871349661"/>
          <c:h val="0.36547319484759039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5B9BD5"/>
            </a:solidFill>
            <a:ln w="25400">
              <a:noFill/>
            </a:ln>
          </c:spPr>
          <c:invertIfNegative val="0"/>
          <c:dLbls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 b="0" i="0" u="none" strike="noStrike" baseline="0">
                    <a:solidFill>
                      <a:srgbClr val="F2F2F2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'Trends_-_Graphs'!$A$57:$A$62</c:f>
              <c:strCache>
                <c:ptCount val="6"/>
                <c:pt idx="0">
                  <c:v>Jan'25</c:v>
                </c:pt>
                <c:pt idx="1">
                  <c:v>Feb'25</c:v>
                </c:pt>
                <c:pt idx="2">
                  <c:v>Mar'25</c:v>
                </c:pt>
                <c:pt idx="3">
                  <c:v>Apr'25</c:v>
                </c:pt>
                <c:pt idx="4">
                  <c:v>May'25</c:v>
                </c:pt>
                <c:pt idx="5">
                  <c:v>Jun'25</c:v>
                </c:pt>
              </c:strCache>
            </c:strRef>
          </c:cat>
          <c:val>
            <c:numRef>
              <c:f>'Trends_-_Graphs'!$B$57:$B$62</c:f>
              <c:numCache>
                <c:formatCode>General</c:formatCode>
                <c:ptCount val="6"/>
                <c:pt idx="0">
                  <c:v>54</c:v>
                </c:pt>
                <c:pt idx="1">
                  <c:v>50</c:v>
                </c:pt>
                <c:pt idx="2">
                  <c:v>47</c:v>
                </c:pt>
                <c:pt idx="3">
                  <c:v>49</c:v>
                </c:pt>
                <c:pt idx="4">
                  <c:v>51</c:v>
                </c:pt>
                <c:pt idx="5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A4-4A74-97B9-FC8B8D5DCA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33613296"/>
        <c:axId val="1"/>
      </c:barChart>
      <c:catAx>
        <c:axId val="23361329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1" i="0" u="none" strike="noStrike" baseline="0">
                    <a:solidFill>
                      <a:srgbClr val="F2F2F2"/>
                    </a:solidFill>
                    <a:latin typeface="Calibri"/>
                    <a:ea typeface="Calibri"/>
                    <a:cs typeface="Calibri"/>
                  </a:defRPr>
                </a:pPr>
                <a:r>
                  <a:rPr lang="en-US"/>
                  <a:t>Months</a:t>
                </a:r>
              </a:p>
            </c:rich>
          </c:tx>
          <c:layout>
            <c:manualLayout>
              <c:xMode val="edge"/>
              <c:yMode val="edge"/>
              <c:x val="0.55889674043376758"/>
              <c:y val="0.86749681414373103"/>
            </c:manualLayout>
          </c:layout>
          <c:overlay val="0"/>
          <c:spPr>
            <a:noFill/>
            <a:ln w="25400">
              <a:noFill/>
            </a:ln>
          </c:spPr>
        </c:title>
        <c:numFmt formatCode="General" sourceLinked="1"/>
        <c:majorTickMark val="none"/>
        <c:minorTickMark val="none"/>
        <c:tickLblPos val="nextTo"/>
        <c:spPr>
          <a:ln w="3175">
            <a:solidFill>
              <a:srgbClr val="D9D9D9"/>
            </a:solidFill>
            <a:prstDash val="solid"/>
          </a:ln>
        </c:spPr>
        <c:txPr>
          <a:bodyPr rot="0" vert="horz"/>
          <a:lstStyle/>
          <a:p>
            <a:pPr>
              <a:defRPr sz="900" b="0" i="0" u="none" strike="noStrike" baseline="0">
                <a:solidFill>
                  <a:srgbClr val="F2F2F2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1"/>
        <c:crossesAt val="0"/>
        <c:auto val="1"/>
        <c:lblAlgn val="ctr"/>
        <c:lblOffset val="100"/>
        <c:tickLblSkip val="1"/>
        <c:tickMarkSkip val="1"/>
        <c:noMultiLvlLbl val="0"/>
      </c:catAx>
      <c:valAx>
        <c:axId val="1"/>
        <c:scaling>
          <c:orientation val="minMax"/>
        </c:scaling>
        <c:delete val="0"/>
        <c:axPos val="l"/>
        <c:majorGridlines>
          <c:spPr>
            <a:ln w="3175">
              <a:solidFill>
                <a:srgbClr val="D9D9D9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1200" b="1" i="0" u="none" strike="noStrike" baseline="0">
                    <a:solidFill>
                      <a:srgbClr val="F2F2F2"/>
                    </a:solidFill>
                    <a:latin typeface="Calibri"/>
                    <a:ea typeface="Calibri"/>
                    <a:cs typeface="Calibri"/>
                  </a:defRPr>
                </a:pPr>
                <a:r>
                  <a:rPr lang="en-US"/>
                  <a:t>Ticket Count</a:t>
                </a:r>
              </a:p>
            </c:rich>
          </c:tx>
          <c:layout>
            <c:manualLayout>
              <c:xMode val="edge"/>
              <c:yMode val="edge"/>
              <c:x val="0.22056794438523269"/>
              <c:y val="0.45382935184371115"/>
            </c:manualLayout>
          </c:layout>
          <c:overlay val="0"/>
          <c:spPr>
            <a:noFill/>
            <a:ln w="25400">
              <a:noFill/>
            </a:ln>
          </c:spPr>
        </c:title>
        <c:numFmt formatCode="General" sourceLinked="1"/>
        <c:majorTickMark val="none"/>
        <c:minorTickMark val="none"/>
        <c:tickLblPos val="nextTo"/>
        <c:spPr>
          <a:ln w="12700">
            <a:noFill/>
          </a:ln>
        </c:spPr>
        <c:txPr>
          <a:bodyPr rot="0" vert="horz"/>
          <a:lstStyle/>
          <a:p>
            <a:pPr>
              <a:defRPr sz="900" b="0" i="0" u="none" strike="noStrike" baseline="0">
                <a:solidFill>
                  <a:srgbClr val="F2F2F2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233613296"/>
        <c:crossesAt val="1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solidFill>
      <a:srgbClr val="000000"/>
    </a:solidFill>
    <a:ln w="3175">
      <a:solidFill>
        <a:srgbClr val="D9D9D9"/>
      </a:solidFill>
      <a:prstDash val="solid"/>
    </a:ln>
  </c:spPr>
  <c:txPr>
    <a:bodyPr/>
    <a:lstStyle/>
    <a:p>
      <a:pPr>
        <a:defRPr sz="1100" b="0" i="0" u="none" strike="noStrike" baseline="0">
          <a:solidFill>
            <a:srgbClr val="000000"/>
          </a:solidFill>
          <a:latin typeface="Arial"/>
          <a:ea typeface="Arial"/>
          <a:cs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 b="0" i="0" u="none" strike="noStrike" baseline="0">
                <a:solidFill>
                  <a:srgbClr val="FFFFFF"/>
                </a:solidFill>
                <a:latin typeface="Aptos Narrow"/>
                <a:ea typeface="Aptos Narrow"/>
                <a:cs typeface="Aptos Narrow"/>
              </a:defRPr>
            </a:pPr>
            <a:r>
              <a:rPr lang="en-US"/>
              <a:t>Monthly Tasks Priority wise- 2025
</a:t>
            </a:r>
          </a:p>
        </c:rich>
      </c:tx>
      <c:layout>
        <c:manualLayout>
          <c:xMode val="edge"/>
          <c:yMode val="edge"/>
          <c:x val="0.26720868080284638"/>
          <c:y val="8.9968298711602751E-2"/>
        </c:manualLayout>
      </c:layout>
      <c:overlay val="0"/>
      <c:spPr>
        <a:noFill/>
        <a:ln w="25400"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7.6802495081057645E-2"/>
          <c:y val="0.45676213192044474"/>
          <c:w val="0.89762916125986125"/>
          <c:h val="0.35295255648398005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156082"/>
            </a:solidFill>
            <a:ln w="25400">
              <a:noFill/>
            </a:ln>
          </c:spPr>
          <c:invertIfNegative val="0"/>
          <c:dLbls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 b="0" i="0" u="none" strike="noStrike" baseline="0">
                    <a:solidFill>
                      <a:srgbClr val="FFFFFF"/>
                    </a:solidFill>
                    <a:latin typeface="Aptos Narrow"/>
                    <a:ea typeface="Aptos Narrow"/>
                    <a:cs typeface="Aptos Narrow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'Trends_-_Graphs'!$A$121:$A$126</c:f>
              <c:strCache>
                <c:ptCount val="6"/>
                <c:pt idx="0">
                  <c:v>Jan'24</c:v>
                </c:pt>
                <c:pt idx="1">
                  <c:v>Feb'25</c:v>
                </c:pt>
                <c:pt idx="2">
                  <c:v>Mar'25</c:v>
                </c:pt>
                <c:pt idx="3">
                  <c:v>Apr'25</c:v>
                </c:pt>
                <c:pt idx="4">
                  <c:v>May'25</c:v>
                </c:pt>
                <c:pt idx="5">
                  <c:v>Jun'25</c:v>
                </c:pt>
              </c:strCache>
            </c:strRef>
          </c:cat>
          <c:val>
            <c:numRef>
              <c:f>'Trends_-_Graphs'!$B$121:$B$126</c:f>
              <c:numCache>
                <c:formatCode>General</c:formatCode>
                <c:ptCount val="6"/>
                <c:pt idx="0">
                  <c:v>2</c:v>
                </c:pt>
                <c:pt idx="1">
                  <c:v>1</c:v>
                </c:pt>
                <c:pt idx="2">
                  <c:v>3</c:v>
                </c:pt>
                <c:pt idx="3">
                  <c:v>2</c:v>
                </c:pt>
                <c:pt idx="4">
                  <c:v>2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13-47D2-9C45-F05C59136DB1}"/>
            </c:ext>
          </c:extLst>
        </c:ser>
        <c:ser>
          <c:idx val="1"/>
          <c:order val="1"/>
          <c:spPr>
            <a:solidFill>
              <a:srgbClr val="E97132"/>
            </a:solidFill>
            <a:ln w="25400">
              <a:noFill/>
            </a:ln>
          </c:spPr>
          <c:invertIfNegative val="0"/>
          <c:dLbls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 b="0" i="0" u="none" strike="noStrike" baseline="0">
                    <a:solidFill>
                      <a:srgbClr val="FFFFFF"/>
                    </a:solidFill>
                    <a:latin typeface="Aptos Narrow"/>
                    <a:ea typeface="Aptos Narrow"/>
                    <a:cs typeface="Aptos Narrow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'Trends_-_Graphs'!$A$121:$A$126</c:f>
              <c:strCache>
                <c:ptCount val="6"/>
                <c:pt idx="0">
                  <c:v>Jan'24</c:v>
                </c:pt>
                <c:pt idx="1">
                  <c:v>Feb'25</c:v>
                </c:pt>
                <c:pt idx="2">
                  <c:v>Mar'25</c:v>
                </c:pt>
                <c:pt idx="3">
                  <c:v>Apr'25</c:v>
                </c:pt>
                <c:pt idx="4">
                  <c:v>May'25</c:v>
                </c:pt>
                <c:pt idx="5">
                  <c:v>Jun'25</c:v>
                </c:pt>
              </c:strCache>
            </c:strRef>
          </c:cat>
          <c:val>
            <c:numRef>
              <c:f>'Trends_-_Graphs'!$C$121:$C$126</c:f>
              <c:numCache>
                <c:formatCode>General</c:formatCode>
                <c:ptCount val="6"/>
                <c:pt idx="0">
                  <c:v>13</c:v>
                </c:pt>
                <c:pt idx="1">
                  <c:v>15</c:v>
                </c:pt>
                <c:pt idx="2">
                  <c:v>10</c:v>
                </c:pt>
                <c:pt idx="3">
                  <c:v>12</c:v>
                </c:pt>
                <c:pt idx="4">
                  <c:v>12</c:v>
                </c:pt>
                <c:pt idx="5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813-47D2-9C45-F05C59136DB1}"/>
            </c:ext>
          </c:extLst>
        </c:ser>
        <c:ser>
          <c:idx val="2"/>
          <c:order val="2"/>
          <c:spPr>
            <a:solidFill>
              <a:srgbClr val="7F7F7F"/>
            </a:solidFill>
            <a:ln w="25400">
              <a:noFill/>
            </a:ln>
          </c:spPr>
          <c:invertIfNegative val="0"/>
          <c:dLbls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 b="0" i="0" u="none" strike="noStrike" baseline="0">
                    <a:solidFill>
                      <a:srgbClr val="FFFFFF"/>
                    </a:solidFill>
                    <a:latin typeface="Aptos Narrow"/>
                    <a:ea typeface="Aptos Narrow"/>
                    <a:cs typeface="Aptos Narrow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'Trends_-_Graphs'!$A$121:$A$126</c:f>
              <c:strCache>
                <c:ptCount val="6"/>
                <c:pt idx="0">
                  <c:v>Jan'24</c:v>
                </c:pt>
                <c:pt idx="1">
                  <c:v>Feb'25</c:v>
                </c:pt>
                <c:pt idx="2">
                  <c:v>Mar'25</c:v>
                </c:pt>
                <c:pt idx="3">
                  <c:v>Apr'25</c:v>
                </c:pt>
                <c:pt idx="4">
                  <c:v>May'25</c:v>
                </c:pt>
                <c:pt idx="5">
                  <c:v>Jun'25</c:v>
                </c:pt>
              </c:strCache>
            </c:strRef>
          </c:cat>
          <c:val>
            <c:numRef>
              <c:f>'Trends_-_Graphs'!$D$121:$D$126</c:f>
              <c:numCache>
                <c:formatCode>General</c:formatCode>
                <c:ptCount val="6"/>
                <c:pt idx="0">
                  <c:v>39</c:v>
                </c:pt>
                <c:pt idx="1">
                  <c:v>34</c:v>
                </c:pt>
                <c:pt idx="2">
                  <c:v>34</c:v>
                </c:pt>
                <c:pt idx="3">
                  <c:v>35</c:v>
                </c:pt>
                <c:pt idx="4">
                  <c:v>37</c:v>
                </c:pt>
                <c:pt idx="5">
                  <c:v>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813-47D2-9C45-F05C59136DB1}"/>
            </c:ext>
          </c:extLst>
        </c:ser>
        <c:ser>
          <c:idx val="3"/>
          <c:order val="3"/>
          <c:spPr>
            <a:solidFill>
              <a:srgbClr val="0F9ED5"/>
            </a:solidFill>
            <a:ln w="25400">
              <a:noFill/>
            </a:ln>
          </c:spPr>
          <c:invertIfNegative val="0"/>
          <c:cat>
            <c:strRef>
              <c:f>'Trends_-_Graphs'!$A$121:$A$126</c:f>
              <c:strCache>
                <c:ptCount val="6"/>
                <c:pt idx="0">
                  <c:v>Jan'24</c:v>
                </c:pt>
                <c:pt idx="1">
                  <c:v>Feb'25</c:v>
                </c:pt>
                <c:pt idx="2">
                  <c:v>Mar'25</c:v>
                </c:pt>
                <c:pt idx="3">
                  <c:v>Apr'25</c:v>
                </c:pt>
                <c:pt idx="4">
                  <c:v>May'25</c:v>
                </c:pt>
                <c:pt idx="5">
                  <c:v>Jun'25</c:v>
                </c:pt>
              </c:strCache>
            </c:strRef>
          </c:cat>
          <c:val>
            <c:numRef>
              <c:f>'Trends_-_Graphs'!$E$121:$E$126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813-47D2-9C45-F05C59136D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33618096"/>
        <c:axId val="1"/>
      </c:barChart>
      <c:catAx>
        <c:axId val="2336180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3175">
            <a:solidFill>
              <a:srgbClr val="D9D9D9"/>
            </a:solidFill>
            <a:prstDash val="solid"/>
          </a:ln>
        </c:spPr>
        <c:txPr>
          <a:bodyPr rot="0" vert="horz"/>
          <a:lstStyle/>
          <a:p>
            <a:pPr>
              <a:defRPr sz="900" b="0" i="0" u="none" strike="noStrike" baseline="0">
                <a:solidFill>
                  <a:srgbClr val="FFFFFF"/>
                </a:solidFill>
                <a:latin typeface="Aptos Narrow"/>
                <a:ea typeface="Aptos Narrow"/>
                <a:cs typeface="Aptos Narrow"/>
              </a:defRPr>
            </a:pPr>
            <a:endParaRPr lang="en-US"/>
          </a:p>
        </c:txPr>
        <c:crossAx val="1"/>
        <c:crossesAt val="0"/>
        <c:auto val="1"/>
        <c:lblAlgn val="ctr"/>
        <c:lblOffset val="100"/>
        <c:tickLblSkip val="1"/>
        <c:tickMarkSkip val="1"/>
        <c:noMultiLvlLbl val="0"/>
      </c:catAx>
      <c:valAx>
        <c:axId val="1"/>
        <c:scaling>
          <c:orientation val="minMax"/>
        </c:scaling>
        <c:delete val="0"/>
        <c:axPos val="l"/>
        <c:majorGridlines>
          <c:spPr>
            <a:ln w="3175">
              <a:solidFill>
                <a:srgbClr val="D9D9D9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>
            <a:noFill/>
          </a:ln>
        </c:spPr>
        <c:txPr>
          <a:bodyPr rot="0" vert="horz"/>
          <a:lstStyle/>
          <a:p>
            <a:pPr>
              <a:defRPr sz="900" b="0" i="0" u="none" strike="noStrike" baseline="0">
                <a:solidFill>
                  <a:srgbClr val="FFFFFF"/>
                </a:solidFill>
                <a:latin typeface="Aptos Narrow"/>
                <a:ea typeface="Aptos Narrow"/>
                <a:cs typeface="Aptos Narrow"/>
              </a:defRPr>
            </a:pPr>
            <a:endParaRPr lang="en-US"/>
          </a:p>
        </c:txPr>
        <c:crossAx val="233618096"/>
        <c:crossesAt val="1"/>
        <c:crossBetween val="between"/>
      </c:valAx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0.54721777745253575"/>
          <c:y val="0.80625436922320937"/>
          <c:w val="0.32481055211363963"/>
          <c:h val="7.6127021986740789E-2"/>
        </c:manualLayout>
      </c:layout>
      <c:overlay val="0"/>
      <c:spPr>
        <a:noFill/>
        <a:ln w="25400">
          <a:noFill/>
        </a:ln>
      </c:spPr>
      <c:txPr>
        <a:bodyPr/>
        <a:lstStyle/>
        <a:p>
          <a:pPr>
            <a:defRPr sz="825" b="0" i="0" u="none" strike="noStrike" baseline="0">
              <a:solidFill>
                <a:srgbClr val="595959"/>
              </a:solidFill>
              <a:latin typeface="Aptos Narrow"/>
              <a:ea typeface="Aptos Narrow"/>
              <a:cs typeface="Aptos Narrow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3A3A3A"/>
    </a:solidFill>
    <a:ln w="3175">
      <a:solidFill>
        <a:srgbClr val="D9D9D9"/>
      </a:solidFill>
      <a:prstDash val="solid"/>
    </a:ln>
  </c:spPr>
  <c:txPr>
    <a:bodyPr/>
    <a:lstStyle/>
    <a:p>
      <a:pPr>
        <a:defRPr sz="1100" b="0" i="0" u="none" strike="noStrike" baseline="0">
          <a:solidFill>
            <a:srgbClr val="000000"/>
          </a:solidFill>
          <a:latin typeface="Arial"/>
          <a:ea typeface="Arial"/>
          <a:cs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800" b="1" i="0" u="none" strike="noStrike" baseline="0">
                <a:solidFill>
                  <a:srgbClr val="FFFFFF"/>
                </a:solidFill>
                <a:latin typeface="Aptos Narrow"/>
                <a:ea typeface="Aptos Narrow"/>
                <a:cs typeface="Aptos Narrow"/>
              </a:defRPr>
            </a:pPr>
            <a:r>
              <a:rPr lang="en-US"/>
              <a:t>Monthly Ticket Status   </a:t>
            </a:r>
          </a:p>
        </c:rich>
      </c:tx>
      <c:layout>
        <c:manualLayout>
          <c:xMode val="edge"/>
          <c:yMode val="edge"/>
          <c:x val="0.32910419974931127"/>
          <c:y val="7.6473187421638972E-2"/>
        </c:manualLayout>
      </c:layout>
      <c:overlay val="0"/>
      <c:spPr>
        <a:noFill/>
        <a:ln w="25400"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7.94937680553892E-2"/>
          <c:y val="0.32648168476161249"/>
          <c:w val="0.89350995294257463"/>
          <c:h val="0.49707571824065327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156082"/>
            </a:solidFill>
            <a:ln w="25400">
              <a:noFill/>
            </a:ln>
          </c:spPr>
          <c:invertIfNegative val="0"/>
          <c:cat>
            <c:strRef>
              <c:f>'Trends_-_Graphs'!$A$185:$A$190</c:f>
              <c:strCache>
                <c:ptCount val="6"/>
                <c:pt idx="0">
                  <c:v>Jan'24</c:v>
                </c:pt>
                <c:pt idx="1">
                  <c:v>Feb'25</c:v>
                </c:pt>
                <c:pt idx="2">
                  <c:v>Mar'25</c:v>
                </c:pt>
                <c:pt idx="3">
                  <c:v>Apr'25</c:v>
                </c:pt>
                <c:pt idx="4">
                  <c:v>May'25</c:v>
                </c:pt>
                <c:pt idx="5">
                  <c:v>Jun'25</c:v>
                </c:pt>
              </c:strCache>
            </c:strRef>
          </c:cat>
          <c:val>
            <c:numRef>
              <c:f>'Trends_-_Graphs'!$B$185:$B$190</c:f>
              <c:numCache>
                <c:formatCode>General</c:formatCode>
                <c:ptCount val="6"/>
                <c:pt idx="0">
                  <c:v>54</c:v>
                </c:pt>
                <c:pt idx="1">
                  <c:v>49</c:v>
                </c:pt>
                <c:pt idx="2">
                  <c:v>46</c:v>
                </c:pt>
                <c:pt idx="3">
                  <c:v>48</c:v>
                </c:pt>
                <c:pt idx="4">
                  <c:v>51</c:v>
                </c:pt>
                <c:pt idx="5">
                  <c:v>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D19-4A7A-838B-3BB4E4B1E0A7}"/>
            </c:ext>
          </c:extLst>
        </c:ser>
        <c:ser>
          <c:idx val="1"/>
          <c:order val="1"/>
          <c:spPr>
            <a:solidFill>
              <a:srgbClr val="E97132"/>
            </a:solidFill>
            <a:ln w="25400">
              <a:noFill/>
            </a:ln>
          </c:spPr>
          <c:invertIfNegative val="0"/>
          <c:cat>
            <c:strRef>
              <c:f>'Trends_-_Graphs'!$A$185:$A$190</c:f>
              <c:strCache>
                <c:ptCount val="6"/>
                <c:pt idx="0">
                  <c:v>Jan'24</c:v>
                </c:pt>
                <c:pt idx="1">
                  <c:v>Feb'25</c:v>
                </c:pt>
                <c:pt idx="2">
                  <c:v>Mar'25</c:v>
                </c:pt>
                <c:pt idx="3">
                  <c:v>Apr'25</c:v>
                </c:pt>
                <c:pt idx="4">
                  <c:v>May'25</c:v>
                </c:pt>
                <c:pt idx="5">
                  <c:v>Jun'25</c:v>
                </c:pt>
              </c:strCache>
            </c:strRef>
          </c:cat>
          <c:val>
            <c:numRef>
              <c:f>'Trends_-_Graphs'!$C$185:$C$190</c:f>
              <c:numCache>
                <c:formatCode>General</c:formatCode>
                <c:ptCount val="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0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D19-4A7A-838B-3BB4E4B1E0A7}"/>
            </c:ext>
          </c:extLst>
        </c:ser>
        <c:ser>
          <c:idx val="2"/>
          <c:order val="2"/>
          <c:spPr>
            <a:solidFill>
              <a:srgbClr val="196B24"/>
            </a:solidFill>
            <a:ln w="25400">
              <a:noFill/>
            </a:ln>
          </c:spPr>
          <c:invertIfNegative val="0"/>
          <c:cat>
            <c:strRef>
              <c:f>'Trends_-_Graphs'!$A$185:$A$190</c:f>
              <c:strCache>
                <c:ptCount val="6"/>
                <c:pt idx="0">
                  <c:v>Jan'24</c:v>
                </c:pt>
                <c:pt idx="1">
                  <c:v>Feb'25</c:v>
                </c:pt>
                <c:pt idx="2">
                  <c:v>Mar'25</c:v>
                </c:pt>
                <c:pt idx="3">
                  <c:v>Apr'25</c:v>
                </c:pt>
                <c:pt idx="4">
                  <c:v>May'25</c:v>
                </c:pt>
                <c:pt idx="5">
                  <c:v>Jun'25</c:v>
                </c:pt>
              </c:strCache>
            </c:strRef>
          </c:cat>
          <c:val>
            <c:numRef>
              <c:f>'Trends_-_Graphs'!$D$185:$D$190</c:f>
              <c:numCache>
                <c:formatCode>General</c:formatCode>
                <c:ptCount val="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0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D19-4A7A-838B-3BB4E4B1E0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14657936"/>
        <c:axId val="1"/>
      </c:barChart>
      <c:catAx>
        <c:axId val="2146579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3175">
            <a:solidFill>
              <a:srgbClr val="D9D9D9"/>
            </a:solidFill>
            <a:prstDash val="solid"/>
          </a:ln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FFFFFF"/>
                </a:solidFill>
                <a:latin typeface="Aptos Narrow"/>
                <a:ea typeface="Aptos Narrow"/>
                <a:cs typeface="Aptos Narrow"/>
              </a:defRPr>
            </a:pPr>
            <a:endParaRPr lang="en-US"/>
          </a:p>
        </c:txPr>
        <c:crossAx val="1"/>
        <c:crossesAt val="0"/>
        <c:auto val="1"/>
        <c:lblAlgn val="ctr"/>
        <c:lblOffset val="100"/>
        <c:tickLblSkip val="1"/>
        <c:tickMarkSkip val="1"/>
        <c:noMultiLvlLbl val="0"/>
      </c:catAx>
      <c:valAx>
        <c:axId val="1"/>
        <c:scaling>
          <c:orientation val="minMax"/>
        </c:scaling>
        <c:delete val="0"/>
        <c:axPos val="l"/>
        <c:majorGridlines>
          <c:spPr>
            <a:ln w="3175">
              <a:solidFill>
                <a:srgbClr val="D9D9D9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>
            <a:noFill/>
          </a:ln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FFFFFF"/>
                </a:solidFill>
                <a:latin typeface="Aptos Narrow"/>
                <a:ea typeface="Aptos Narrow"/>
                <a:cs typeface="Aptos Narrow"/>
              </a:defRPr>
            </a:pPr>
            <a:endParaRPr lang="en-US"/>
          </a:p>
        </c:txPr>
        <c:crossAx val="214657936"/>
        <c:crossesAt val="1"/>
        <c:crossBetween val="between"/>
      </c:valAx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0.3545422055270358"/>
          <c:y val="0.83238123232014727"/>
          <c:w val="0.31002569541601788"/>
          <c:h val="7.0590634543051353E-2"/>
        </c:manualLayout>
      </c:layout>
      <c:overlay val="0"/>
      <c:spPr>
        <a:noFill/>
        <a:ln w="25400">
          <a:noFill/>
        </a:ln>
      </c:spPr>
      <c:txPr>
        <a:bodyPr/>
        <a:lstStyle/>
        <a:p>
          <a:pPr>
            <a:defRPr sz="920" b="0" i="0" u="none" strike="noStrike" baseline="0">
              <a:solidFill>
                <a:srgbClr val="FFFFFF"/>
              </a:solidFill>
              <a:latin typeface="Aptos Narrow"/>
              <a:ea typeface="Aptos Narrow"/>
              <a:cs typeface="Aptos Narrow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262626"/>
    </a:solidFill>
    <a:ln w="3175">
      <a:solidFill>
        <a:srgbClr val="D9D9D9"/>
      </a:solidFill>
      <a:prstDash val="solid"/>
    </a:ln>
  </c:spPr>
  <c:txPr>
    <a:bodyPr/>
    <a:lstStyle/>
    <a:p>
      <a:pPr>
        <a:defRPr sz="1100" b="0" i="0" u="none" strike="noStrike" baseline="0">
          <a:solidFill>
            <a:srgbClr val="000000"/>
          </a:solidFill>
          <a:latin typeface="Arial"/>
          <a:ea typeface="Arial"/>
          <a:cs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3333333333333329E-2"/>
          <c:y val="0.30023221055701371"/>
          <c:w val="0.83611111111111114"/>
          <c:h val="0.49514617964421115"/>
        </c:manualLayout>
      </c:layout>
      <c:barChart>
        <c:barDir val="col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25"/>
        <c:axId val="317807952"/>
        <c:axId val="1"/>
      </c:barChart>
      <c:catAx>
        <c:axId val="3178079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0" vert="horz"/>
          <a:lstStyle/>
          <a:p>
            <a:pPr>
              <a:defRPr sz="900" b="0" i="0" u="none" strike="noStrike" baseline="0">
                <a:solidFill>
                  <a:srgbClr val="D9D9D9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000" b="1" i="0" u="none" strike="noStrike" baseline="0">
                    <a:solidFill>
                      <a:srgbClr val="D9D9D9"/>
                    </a:solidFill>
                    <a:latin typeface="Calibri"/>
                    <a:ea typeface="Calibri"/>
                    <a:cs typeface="Calibri"/>
                  </a:defRPr>
                </a:pPr>
                <a:r>
                  <a:rPr lang="en-US"/>
                  <a:t>Task Count</a:t>
                </a:r>
              </a:p>
            </c:rich>
          </c:tx>
          <c:layout>
            <c:manualLayout>
              <c:xMode val="edge"/>
              <c:yMode val="edge"/>
              <c:x val="0"/>
              <c:y val="0.36977267672049469"/>
            </c:manualLayout>
          </c:layout>
          <c:overlay val="0"/>
          <c:spPr>
            <a:noFill/>
            <a:ln w="25400">
              <a:noFill/>
            </a:ln>
          </c:spPr>
        </c:title>
        <c:numFmt formatCode="General" sourceLinked="1"/>
        <c:majorTickMark val="out"/>
        <c:minorTickMark val="none"/>
        <c:tickLblPos val="nextTo"/>
        <c:spPr>
          <a:ln w="6350">
            <a:noFill/>
          </a:ln>
        </c:spPr>
        <c:txPr>
          <a:bodyPr rot="0" vert="horz"/>
          <a:lstStyle/>
          <a:p>
            <a:pPr>
              <a:defRPr sz="900" b="0" i="0" u="none" strike="noStrike" baseline="0">
                <a:solidFill>
                  <a:srgbClr val="D9D9D9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317807952"/>
        <c:crosses val="autoZero"/>
        <c:crossBetween val="between"/>
      </c:valAx>
      <c:spPr>
        <a:noFill/>
        <a:ln w="25400">
          <a:noFill/>
        </a:ln>
      </c:spPr>
    </c:plotArea>
    <c:legend>
      <c:legendPos val="t"/>
      <c:layout>
        <c:manualLayout>
          <c:xMode val="edge"/>
          <c:yMode val="edge"/>
          <c:x val="0.31999461605760815"/>
          <c:y val="0.90729196138618262"/>
          <c:w val="0.39889970163985911"/>
          <c:h val="7.8124827616886883E-2"/>
        </c:manualLayout>
      </c:layout>
      <c:overlay val="0"/>
      <c:spPr>
        <a:noFill/>
        <a:ln w="25400">
          <a:noFill/>
        </a:ln>
      </c:spPr>
      <c:txPr>
        <a:bodyPr/>
        <a:lstStyle/>
        <a:p>
          <a:pPr>
            <a:defRPr sz="690" b="0" i="0" u="none" strike="noStrike" baseline="0">
              <a:solidFill>
                <a:srgbClr val="D9D9D9"/>
              </a:solidFill>
              <a:latin typeface="Calibri"/>
              <a:ea typeface="Calibri"/>
              <a:cs typeface="Calibri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Calibri"/>
          <a:ea typeface="Calibri"/>
          <a:cs typeface="Calibri"/>
        </a:defRPr>
      </a:pPr>
      <a:endParaRPr lang="en-US"/>
    </a:p>
  </c:txPr>
  <c:externalData r:id="rId1">
    <c:autoUpdate val="0"/>
  </c:externalData>
  <c:userShapes r:id="rId2"/>
</c:chartSpace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4D5B2D-22B7-49F0-911F-6ECFDDB0B14B}" type="doc">
      <dgm:prSet loTypeId="urn:microsoft.com/office/officeart/2018/2/layout/IconVerticalSolidList" loCatId="icon" qsTypeId="urn:microsoft.com/office/officeart/2005/8/quickstyle/simple2" qsCatId="simple" csTypeId="urn:microsoft.com/office/officeart/2005/8/colors/colorful3" csCatId="colorful" phldr="1"/>
      <dgm:spPr/>
      <dgm:t>
        <a:bodyPr/>
        <a:lstStyle/>
        <a:p>
          <a:endParaRPr lang="en-IN"/>
        </a:p>
      </dgm:t>
    </dgm:pt>
    <dgm:pt modelId="{788BAEDA-EEE9-404D-B372-1EC8BFB2C176}">
      <dgm:prSet phldrT="[Text]"/>
      <dgm:spPr/>
      <dgm:t>
        <a:bodyPr/>
        <a:lstStyle/>
        <a:p>
          <a:pPr rtl="0">
            <a:lnSpc>
              <a:spcPct val="100000"/>
            </a:lnSpc>
          </a:pPr>
          <a:r>
            <a:rPr lang="en-US" b="1" dirty="0"/>
            <a:t>Monthly Highlights –</a:t>
          </a:r>
          <a:r>
            <a:rPr lang="en-US" b="1" dirty="0">
              <a:latin typeface="Calibri Light" panose="020F0302020204030204"/>
            </a:rPr>
            <a:t> June -2025</a:t>
          </a:r>
          <a:r>
            <a:rPr lang="en-US" b="1" dirty="0"/>
            <a:t>	</a:t>
          </a:r>
          <a:endParaRPr lang="en-IN" dirty="0"/>
        </a:p>
      </dgm:t>
    </dgm:pt>
    <dgm:pt modelId="{EF036F66-C147-4C9B-B798-47690312199E}" type="parTrans" cxnId="{018BBE1E-85FF-45D7-94E6-2F4097932455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7108BCB3-1AFE-465C-8EBE-C6806A04162C}" type="sibTrans" cxnId="{018BBE1E-85FF-45D7-94E6-2F4097932455}">
      <dgm:prSet/>
      <dgm:spPr/>
      <dgm:t>
        <a:bodyPr/>
        <a:lstStyle/>
        <a:p>
          <a:pPr>
            <a:lnSpc>
              <a:spcPct val="100000"/>
            </a:lnSpc>
          </a:pPr>
          <a:endParaRPr lang="en-IN">
            <a:solidFill>
              <a:schemeClr val="tx1"/>
            </a:solidFill>
          </a:endParaRPr>
        </a:p>
      </dgm:t>
    </dgm:pt>
    <dgm:pt modelId="{B72ECF76-85F7-4544-B691-547B2A33D232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Tasks Analysis – June</a:t>
          </a:r>
          <a:r>
            <a:rPr lang="en-US" b="0" dirty="0">
              <a:solidFill>
                <a:srgbClr val="000000"/>
              </a:solidFill>
              <a:latin typeface="Calibri"/>
              <a:ea typeface="Calibri"/>
              <a:cs typeface="Calibri"/>
            </a:rPr>
            <a:t> </a:t>
          </a:r>
          <a:r>
            <a:rPr lang="en-US" b="1" dirty="0">
              <a:solidFill>
                <a:schemeClr val="tx1"/>
              </a:solidFill>
              <a:latin typeface="Calibri Light" panose="020F0302020204030204"/>
            </a:rPr>
            <a:t>-2025</a:t>
          </a:r>
          <a:endParaRPr lang="en-US" b="1" dirty="0">
            <a:solidFill>
              <a:schemeClr val="tx1"/>
            </a:solidFill>
          </a:endParaRPr>
        </a:p>
      </dgm:t>
    </dgm:pt>
    <dgm:pt modelId="{38A5033D-22EC-4416-96F7-D160E2A80027}" type="parTrans" cxnId="{18D3203B-A49A-4380-BE0B-413F6D485E81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33805E8A-F7CC-4AA8-88E6-596CF55325F1}" type="sibTrans" cxnId="{18D3203B-A49A-4380-BE0B-413F6D485E81}">
      <dgm:prSet/>
      <dgm:spPr/>
      <dgm:t>
        <a:bodyPr/>
        <a:lstStyle/>
        <a:p>
          <a:pPr>
            <a:lnSpc>
              <a:spcPct val="100000"/>
            </a:lnSpc>
          </a:pPr>
          <a:endParaRPr lang="en-IN">
            <a:solidFill>
              <a:schemeClr val="tx1"/>
            </a:solidFill>
          </a:endParaRPr>
        </a:p>
      </dgm:t>
    </dgm:pt>
    <dgm:pt modelId="{7D5F12DE-15AF-41BD-B83A-0F9C292430D2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Upcoming Activities – Next Months</a:t>
          </a:r>
          <a:endParaRPr lang="en-IN" dirty="0"/>
        </a:p>
      </dgm:t>
    </dgm:pt>
    <dgm:pt modelId="{AEA122CA-7F40-47D6-885C-564F6EB9A4E1}" type="parTrans" cxnId="{EF980F2C-6241-40B5-A372-3A28DEB61876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AB1FFC47-1AC0-4DE8-B34C-2BF2F2ADE044}" type="sibTrans" cxnId="{EF980F2C-6241-40B5-A372-3A28DEB61876}">
      <dgm:prSet/>
      <dgm:spPr/>
      <dgm:t>
        <a:bodyPr/>
        <a:lstStyle/>
        <a:p>
          <a:pPr>
            <a:lnSpc>
              <a:spcPct val="100000"/>
            </a:lnSpc>
          </a:pPr>
          <a:endParaRPr lang="en-IN">
            <a:solidFill>
              <a:schemeClr val="tx1"/>
            </a:solidFill>
          </a:endParaRPr>
        </a:p>
      </dgm:t>
    </dgm:pt>
    <dgm:pt modelId="{032F47D8-F82E-41AB-ACE2-A998DC323856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Risks/Issues and Mitigations</a:t>
          </a:r>
          <a:endParaRPr lang="en-IN" dirty="0"/>
        </a:p>
      </dgm:t>
    </dgm:pt>
    <dgm:pt modelId="{4A5447E4-1405-4059-8C58-A108C3BF2FBF}" type="parTrans" cxnId="{E1A4CB7C-A721-442F-AA4A-946F42767557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90B7C7FA-8333-4523-8D36-D36845A5125A}" type="sibTrans" cxnId="{E1A4CB7C-A721-442F-AA4A-946F42767557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2181ED57-40D2-4631-AF1D-E7573C269195}" type="pres">
      <dgm:prSet presAssocID="{A14D5B2D-22B7-49F0-911F-6ECFDDB0B14B}" presName="root" presStyleCnt="0">
        <dgm:presLayoutVars>
          <dgm:dir/>
          <dgm:resizeHandles val="exact"/>
        </dgm:presLayoutVars>
      </dgm:prSet>
      <dgm:spPr/>
    </dgm:pt>
    <dgm:pt modelId="{E9A650F7-8A9D-4535-9C16-DEB71164F5E4}" type="pres">
      <dgm:prSet presAssocID="{788BAEDA-EEE9-404D-B372-1EC8BFB2C176}" presName="compNode" presStyleCnt="0"/>
      <dgm:spPr/>
    </dgm:pt>
    <dgm:pt modelId="{32097702-5904-4672-8D5E-D550CBC6FF20}" type="pres">
      <dgm:prSet presAssocID="{788BAEDA-EEE9-404D-B372-1EC8BFB2C176}" presName="bgRect" presStyleLbl="bgShp" presStyleIdx="0" presStyleCnt="4"/>
      <dgm:spPr/>
    </dgm:pt>
    <dgm:pt modelId="{BE643F9C-C1B8-4301-BB0D-05EADDB73C7C}" type="pres">
      <dgm:prSet presAssocID="{788BAEDA-EEE9-404D-B372-1EC8BFB2C176}" presName="iconRect" presStyleLbl="node1" presStyleIdx="0" presStyleCnt="4"/>
      <dgm:spPr>
        <a:blipFill>
          <a:blip xmlns:r="http://schemas.openxmlformats.org/officeDocument/2006/relationships" r:embed="rId1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wspaper"/>
        </a:ext>
      </dgm:extLst>
    </dgm:pt>
    <dgm:pt modelId="{4E521D95-7F21-414C-91F3-1215D3EC9293}" type="pres">
      <dgm:prSet presAssocID="{788BAEDA-EEE9-404D-B372-1EC8BFB2C176}" presName="spaceRect" presStyleCnt="0"/>
      <dgm:spPr/>
    </dgm:pt>
    <dgm:pt modelId="{CE838E6B-630B-436A-B02B-3B74E62DE938}" type="pres">
      <dgm:prSet presAssocID="{788BAEDA-EEE9-404D-B372-1EC8BFB2C176}" presName="parTx" presStyleLbl="revTx" presStyleIdx="0" presStyleCnt="4">
        <dgm:presLayoutVars>
          <dgm:chMax val="0"/>
          <dgm:chPref val="0"/>
        </dgm:presLayoutVars>
      </dgm:prSet>
      <dgm:spPr/>
    </dgm:pt>
    <dgm:pt modelId="{53F7B5E3-3852-4732-A7C4-5963DE214363}" type="pres">
      <dgm:prSet presAssocID="{7108BCB3-1AFE-465C-8EBE-C6806A04162C}" presName="sibTrans" presStyleCnt="0"/>
      <dgm:spPr/>
    </dgm:pt>
    <dgm:pt modelId="{5FA570BE-1600-4096-8D08-5D0904E530EF}" type="pres">
      <dgm:prSet presAssocID="{B72ECF76-85F7-4544-B691-547B2A33D232}" presName="compNode" presStyleCnt="0"/>
      <dgm:spPr/>
    </dgm:pt>
    <dgm:pt modelId="{95DACB3C-DDF8-45FB-98F7-DF838D8F8B5A}" type="pres">
      <dgm:prSet presAssocID="{B72ECF76-85F7-4544-B691-547B2A33D232}" presName="bgRect" presStyleLbl="bgShp" presStyleIdx="1" presStyleCnt="4"/>
      <dgm:spPr/>
    </dgm:pt>
    <dgm:pt modelId="{98129E7C-BA51-446C-AA27-9781A1580701}" type="pres">
      <dgm:prSet presAssocID="{B72ECF76-85F7-4544-B691-547B2A33D23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23AC1DB5-815F-4A9E-8687-18003D82B3F5}" type="pres">
      <dgm:prSet presAssocID="{B72ECF76-85F7-4544-B691-547B2A33D232}" presName="spaceRect" presStyleCnt="0"/>
      <dgm:spPr/>
    </dgm:pt>
    <dgm:pt modelId="{F021FDA9-C578-457F-ACE1-37A51F6632AA}" type="pres">
      <dgm:prSet presAssocID="{B72ECF76-85F7-4544-B691-547B2A33D232}" presName="parTx" presStyleLbl="revTx" presStyleIdx="1" presStyleCnt="4" custLinFactNeighborX="142">
        <dgm:presLayoutVars>
          <dgm:chMax val="0"/>
          <dgm:chPref val="0"/>
        </dgm:presLayoutVars>
      </dgm:prSet>
      <dgm:spPr/>
    </dgm:pt>
    <dgm:pt modelId="{2E496918-214A-4872-B51D-1DE16E73A023}" type="pres">
      <dgm:prSet presAssocID="{33805E8A-F7CC-4AA8-88E6-596CF55325F1}" presName="sibTrans" presStyleCnt="0"/>
      <dgm:spPr/>
    </dgm:pt>
    <dgm:pt modelId="{6A7964EE-D69D-4646-BE3E-64AF745D54BF}" type="pres">
      <dgm:prSet presAssocID="{7D5F12DE-15AF-41BD-B83A-0F9C292430D2}" presName="compNode" presStyleCnt="0"/>
      <dgm:spPr/>
    </dgm:pt>
    <dgm:pt modelId="{4429E328-4455-47A6-AAF1-BB6D949CB2F6}" type="pres">
      <dgm:prSet presAssocID="{7D5F12DE-15AF-41BD-B83A-0F9C292430D2}" presName="bgRect" presStyleLbl="bgShp" presStyleIdx="2" presStyleCnt="4"/>
      <dgm:spPr/>
    </dgm:pt>
    <dgm:pt modelId="{17669613-6E6A-4818-9C4C-3CB85BF1DE9F}" type="pres">
      <dgm:prSet presAssocID="{7D5F12DE-15AF-41BD-B83A-0F9C292430D2}" presName="iconRect" presStyleLbl="node1" presStyleIdx="2" presStyleCnt="4"/>
      <dgm:spPr>
        <a:blipFill>
          <a:blip xmlns:r="http://schemas.openxmlformats.org/officeDocument/2006/relationships" r:embed="rId5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647FF5F3-3481-41F2-BF07-CDA8EEC20710}" type="pres">
      <dgm:prSet presAssocID="{7D5F12DE-15AF-41BD-B83A-0F9C292430D2}" presName="spaceRect" presStyleCnt="0"/>
      <dgm:spPr/>
    </dgm:pt>
    <dgm:pt modelId="{AAD0328A-D036-4C65-86CD-AFBBB33FCE84}" type="pres">
      <dgm:prSet presAssocID="{7D5F12DE-15AF-41BD-B83A-0F9C292430D2}" presName="parTx" presStyleLbl="revTx" presStyleIdx="2" presStyleCnt="4">
        <dgm:presLayoutVars>
          <dgm:chMax val="0"/>
          <dgm:chPref val="0"/>
        </dgm:presLayoutVars>
      </dgm:prSet>
      <dgm:spPr/>
    </dgm:pt>
    <dgm:pt modelId="{6B09C024-3115-4191-B94C-839E84040BDF}" type="pres">
      <dgm:prSet presAssocID="{AB1FFC47-1AC0-4DE8-B34C-2BF2F2ADE044}" presName="sibTrans" presStyleCnt="0"/>
      <dgm:spPr/>
    </dgm:pt>
    <dgm:pt modelId="{A02EF070-7C66-41DD-8E14-9C9C251DABBB}" type="pres">
      <dgm:prSet presAssocID="{032F47D8-F82E-41AB-ACE2-A998DC323856}" presName="compNode" presStyleCnt="0"/>
      <dgm:spPr/>
    </dgm:pt>
    <dgm:pt modelId="{DEEA686F-2E8C-437D-A94B-3933334C8252}" type="pres">
      <dgm:prSet presAssocID="{032F47D8-F82E-41AB-ACE2-A998DC323856}" presName="bgRect" presStyleLbl="bgShp" presStyleIdx="3" presStyleCnt="4"/>
      <dgm:spPr/>
    </dgm:pt>
    <dgm:pt modelId="{94907F4E-3DE0-4000-A108-43E12F1414D1}" type="pres">
      <dgm:prSet presAssocID="{032F47D8-F82E-41AB-ACE2-A998DC32385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DE7E5C47-E313-49AC-9A25-ADCBA68166A4}" type="pres">
      <dgm:prSet presAssocID="{032F47D8-F82E-41AB-ACE2-A998DC323856}" presName="spaceRect" presStyleCnt="0"/>
      <dgm:spPr/>
    </dgm:pt>
    <dgm:pt modelId="{38F634A8-BBD5-41DF-AC69-819EDA7B09EB}" type="pres">
      <dgm:prSet presAssocID="{032F47D8-F82E-41AB-ACE2-A998DC32385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F56D813-9C0B-4683-8697-9DD20001E2FA}" type="presOf" srcId="{032F47D8-F82E-41AB-ACE2-A998DC323856}" destId="{38F634A8-BBD5-41DF-AC69-819EDA7B09EB}" srcOrd="0" destOrd="0" presId="urn:microsoft.com/office/officeart/2018/2/layout/IconVerticalSolidList"/>
    <dgm:cxn modelId="{018BBE1E-85FF-45D7-94E6-2F4097932455}" srcId="{A14D5B2D-22B7-49F0-911F-6ECFDDB0B14B}" destId="{788BAEDA-EEE9-404D-B372-1EC8BFB2C176}" srcOrd="0" destOrd="0" parTransId="{EF036F66-C147-4C9B-B798-47690312199E}" sibTransId="{7108BCB3-1AFE-465C-8EBE-C6806A04162C}"/>
    <dgm:cxn modelId="{EF980F2C-6241-40B5-A372-3A28DEB61876}" srcId="{A14D5B2D-22B7-49F0-911F-6ECFDDB0B14B}" destId="{7D5F12DE-15AF-41BD-B83A-0F9C292430D2}" srcOrd="2" destOrd="0" parTransId="{AEA122CA-7F40-47D6-885C-564F6EB9A4E1}" sibTransId="{AB1FFC47-1AC0-4DE8-B34C-2BF2F2ADE044}"/>
    <dgm:cxn modelId="{18D3203B-A49A-4380-BE0B-413F6D485E81}" srcId="{A14D5B2D-22B7-49F0-911F-6ECFDDB0B14B}" destId="{B72ECF76-85F7-4544-B691-547B2A33D232}" srcOrd="1" destOrd="0" parTransId="{38A5033D-22EC-4416-96F7-D160E2A80027}" sibTransId="{33805E8A-F7CC-4AA8-88E6-596CF55325F1}"/>
    <dgm:cxn modelId="{A064B071-1CFC-4827-AFEB-FC01DE4EADDC}" type="presOf" srcId="{B72ECF76-85F7-4544-B691-547B2A33D232}" destId="{F021FDA9-C578-457F-ACE1-37A51F6632AA}" srcOrd="0" destOrd="0" presId="urn:microsoft.com/office/officeart/2018/2/layout/IconVerticalSolidList"/>
    <dgm:cxn modelId="{C43B9873-5C0F-40B0-AF16-D7070136EC72}" type="presOf" srcId="{7D5F12DE-15AF-41BD-B83A-0F9C292430D2}" destId="{AAD0328A-D036-4C65-86CD-AFBBB33FCE84}" srcOrd="0" destOrd="0" presId="urn:microsoft.com/office/officeart/2018/2/layout/IconVerticalSolidList"/>
    <dgm:cxn modelId="{E1A4CB7C-A721-442F-AA4A-946F42767557}" srcId="{A14D5B2D-22B7-49F0-911F-6ECFDDB0B14B}" destId="{032F47D8-F82E-41AB-ACE2-A998DC323856}" srcOrd="3" destOrd="0" parTransId="{4A5447E4-1405-4059-8C58-A108C3BF2FBF}" sibTransId="{90B7C7FA-8333-4523-8D36-D36845A5125A}"/>
    <dgm:cxn modelId="{C435D08C-21AE-4BE4-ACFF-EF3E1A6B9060}" type="presOf" srcId="{A14D5B2D-22B7-49F0-911F-6ECFDDB0B14B}" destId="{2181ED57-40D2-4631-AF1D-E7573C269195}" srcOrd="0" destOrd="0" presId="urn:microsoft.com/office/officeart/2018/2/layout/IconVerticalSolidList"/>
    <dgm:cxn modelId="{6C233EAD-EE71-4F1D-9A90-9EEE6BC0CE62}" type="presOf" srcId="{788BAEDA-EEE9-404D-B372-1EC8BFB2C176}" destId="{CE838E6B-630B-436A-B02B-3B74E62DE938}" srcOrd="0" destOrd="0" presId="urn:microsoft.com/office/officeart/2018/2/layout/IconVerticalSolidList"/>
    <dgm:cxn modelId="{19C29873-9B06-463C-AA66-10DF1D0FC8DE}" type="presParOf" srcId="{2181ED57-40D2-4631-AF1D-E7573C269195}" destId="{E9A650F7-8A9D-4535-9C16-DEB71164F5E4}" srcOrd="0" destOrd="0" presId="urn:microsoft.com/office/officeart/2018/2/layout/IconVerticalSolidList"/>
    <dgm:cxn modelId="{054C18DE-E51E-4D8C-A35D-F4E0345F7405}" type="presParOf" srcId="{E9A650F7-8A9D-4535-9C16-DEB71164F5E4}" destId="{32097702-5904-4672-8D5E-D550CBC6FF20}" srcOrd="0" destOrd="0" presId="urn:microsoft.com/office/officeart/2018/2/layout/IconVerticalSolidList"/>
    <dgm:cxn modelId="{AA641520-6A0B-451B-B4F3-35CA8C4B4D03}" type="presParOf" srcId="{E9A650F7-8A9D-4535-9C16-DEB71164F5E4}" destId="{BE643F9C-C1B8-4301-BB0D-05EADDB73C7C}" srcOrd="1" destOrd="0" presId="urn:microsoft.com/office/officeart/2018/2/layout/IconVerticalSolidList"/>
    <dgm:cxn modelId="{6AFAFAF3-4781-4D88-8FC0-BF7EF75F7DA5}" type="presParOf" srcId="{E9A650F7-8A9D-4535-9C16-DEB71164F5E4}" destId="{4E521D95-7F21-414C-91F3-1215D3EC9293}" srcOrd="2" destOrd="0" presId="urn:microsoft.com/office/officeart/2018/2/layout/IconVerticalSolidList"/>
    <dgm:cxn modelId="{F44496B2-4E74-4C93-8CD9-86E9251543E6}" type="presParOf" srcId="{E9A650F7-8A9D-4535-9C16-DEB71164F5E4}" destId="{CE838E6B-630B-436A-B02B-3B74E62DE938}" srcOrd="3" destOrd="0" presId="urn:microsoft.com/office/officeart/2018/2/layout/IconVerticalSolidList"/>
    <dgm:cxn modelId="{8511A1B8-66DE-4C95-8EAC-D9E7A96E7804}" type="presParOf" srcId="{2181ED57-40D2-4631-AF1D-E7573C269195}" destId="{53F7B5E3-3852-4732-A7C4-5963DE214363}" srcOrd="1" destOrd="0" presId="urn:microsoft.com/office/officeart/2018/2/layout/IconVerticalSolidList"/>
    <dgm:cxn modelId="{81B7A83A-EF03-49E5-8120-B5176CA06EF9}" type="presParOf" srcId="{2181ED57-40D2-4631-AF1D-E7573C269195}" destId="{5FA570BE-1600-4096-8D08-5D0904E530EF}" srcOrd="2" destOrd="0" presId="urn:microsoft.com/office/officeart/2018/2/layout/IconVerticalSolidList"/>
    <dgm:cxn modelId="{1EAC3910-48CA-4A09-A99B-FD1AD0B79D59}" type="presParOf" srcId="{5FA570BE-1600-4096-8D08-5D0904E530EF}" destId="{95DACB3C-DDF8-45FB-98F7-DF838D8F8B5A}" srcOrd="0" destOrd="0" presId="urn:microsoft.com/office/officeart/2018/2/layout/IconVerticalSolidList"/>
    <dgm:cxn modelId="{123A2902-9CB6-45BC-9B47-AF7006E5CC42}" type="presParOf" srcId="{5FA570BE-1600-4096-8D08-5D0904E530EF}" destId="{98129E7C-BA51-446C-AA27-9781A1580701}" srcOrd="1" destOrd="0" presId="urn:microsoft.com/office/officeart/2018/2/layout/IconVerticalSolidList"/>
    <dgm:cxn modelId="{941F955E-5F61-4B4B-853F-D137CD78D35A}" type="presParOf" srcId="{5FA570BE-1600-4096-8D08-5D0904E530EF}" destId="{23AC1DB5-815F-4A9E-8687-18003D82B3F5}" srcOrd="2" destOrd="0" presId="urn:microsoft.com/office/officeart/2018/2/layout/IconVerticalSolidList"/>
    <dgm:cxn modelId="{63938251-F4C1-4637-ABD3-37AA9B238BDE}" type="presParOf" srcId="{5FA570BE-1600-4096-8D08-5D0904E530EF}" destId="{F021FDA9-C578-457F-ACE1-37A51F6632AA}" srcOrd="3" destOrd="0" presId="urn:microsoft.com/office/officeart/2018/2/layout/IconVerticalSolidList"/>
    <dgm:cxn modelId="{EF652258-EFC3-4BE0-BE6B-99F92BE54030}" type="presParOf" srcId="{2181ED57-40D2-4631-AF1D-E7573C269195}" destId="{2E496918-214A-4872-B51D-1DE16E73A023}" srcOrd="3" destOrd="0" presId="urn:microsoft.com/office/officeart/2018/2/layout/IconVerticalSolidList"/>
    <dgm:cxn modelId="{72AC7029-CD21-4EC3-BD58-0AB02F7F8F38}" type="presParOf" srcId="{2181ED57-40D2-4631-AF1D-E7573C269195}" destId="{6A7964EE-D69D-4646-BE3E-64AF745D54BF}" srcOrd="4" destOrd="0" presId="urn:microsoft.com/office/officeart/2018/2/layout/IconVerticalSolidList"/>
    <dgm:cxn modelId="{1FDE2AAF-D4D8-439C-976A-64B83F8780C0}" type="presParOf" srcId="{6A7964EE-D69D-4646-BE3E-64AF745D54BF}" destId="{4429E328-4455-47A6-AAF1-BB6D949CB2F6}" srcOrd="0" destOrd="0" presId="urn:microsoft.com/office/officeart/2018/2/layout/IconVerticalSolidList"/>
    <dgm:cxn modelId="{82CD966D-127C-4AA5-8774-D67BE176BCC9}" type="presParOf" srcId="{6A7964EE-D69D-4646-BE3E-64AF745D54BF}" destId="{17669613-6E6A-4818-9C4C-3CB85BF1DE9F}" srcOrd="1" destOrd="0" presId="urn:microsoft.com/office/officeart/2018/2/layout/IconVerticalSolidList"/>
    <dgm:cxn modelId="{330ABF11-5F34-4D56-A0C6-D548785B1A1B}" type="presParOf" srcId="{6A7964EE-D69D-4646-BE3E-64AF745D54BF}" destId="{647FF5F3-3481-41F2-BF07-CDA8EEC20710}" srcOrd="2" destOrd="0" presId="urn:microsoft.com/office/officeart/2018/2/layout/IconVerticalSolidList"/>
    <dgm:cxn modelId="{7946B3FD-DC6B-4734-B0F7-901DED01917A}" type="presParOf" srcId="{6A7964EE-D69D-4646-BE3E-64AF745D54BF}" destId="{AAD0328A-D036-4C65-86CD-AFBBB33FCE84}" srcOrd="3" destOrd="0" presId="urn:microsoft.com/office/officeart/2018/2/layout/IconVerticalSolidList"/>
    <dgm:cxn modelId="{A3B82B02-2AAB-4082-8985-A5DBC76A716A}" type="presParOf" srcId="{2181ED57-40D2-4631-AF1D-E7573C269195}" destId="{6B09C024-3115-4191-B94C-839E84040BDF}" srcOrd="5" destOrd="0" presId="urn:microsoft.com/office/officeart/2018/2/layout/IconVerticalSolidList"/>
    <dgm:cxn modelId="{FC2C71C8-9D10-48AE-AA77-5CCE33327B49}" type="presParOf" srcId="{2181ED57-40D2-4631-AF1D-E7573C269195}" destId="{A02EF070-7C66-41DD-8E14-9C9C251DABBB}" srcOrd="6" destOrd="0" presId="urn:microsoft.com/office/officeart/2018/2/layout/IconVerticalSolidList"/>
    <dgm:cxn modelId="{1D9E8947-A7EC-4673-BD7D-F5845FAC03B4}" type="presParOf" srcId="{A02EF070-7C66-41DD-8E14-9C9C251DABBB}" destId="{DEEA686F-2E8C-437D-A94B-3933334C8252}" srcOrd="0" destOrd="0" presId="urn:microsoft.com/office/officeart/2018/2/layout/IconVerticalSolidList"/>
    <dgm:cxn modelId="{4DCA7823-750C-4078-AE81-6CC257762B46}" type="presParOf" srcId="{A02EF070-7C66-41DD-8E14-9C9C251DABBB}" destId="{94907F4E-3DE0-4000-A108-43E12F1414D1}" srcOrd="1" destOrd="0" presId="urn:microsoft.com/office/officeart/2018/2/layout/IconVerticalSolidList"/>
    <dgm:cxn modelId="{780158D9-AE43-4441-9BFA-A9115446C29E}" type="presParOf" srcId="{A02EF070-7C66-41DD-8E14-9C9C251DABBB}" destId="{DE7E5C47-E313-49AC-9A25-ADCBA68166A4}" srcOrd="2" destOrd="0" presId="urn:microsoft.com/office/officeart/2018/2/layout/IconVerticalSolidList"/>
    <dgm:cxn modelId="{342B93C5-7AF4-46AC-AC3C-ACBB39449B5A}" type="presParOf" srcId="{A02EF070-7C66-41DD-8E14-9C9C251DABBB}" destId="{38F634A8-BBD5-41DF-AC69-819EDA7B09E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097702-5904-4672-8D5E-D550CBC6FF20}">
      <dsp:nvSpPr>
        <dsp:cNvPr id="0" name=""/>
        <dsp:cNvSpPr/>
      </dsp:nvSpPr>
      <dsp:spPr>
        <a:xfrm>
          <a:off x="0" y="2258"/>
          <a:ext cx="10651433" cy="1144786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643F9C-C1B8-4301-BB0D-05EADDB73C7C}">
      <dsp:nvSpPr>
        <dsp:cNvPr id="0" name=""/>
        <dsp:cNvSpPr/>
      </dsp:nvSpPr>
      <dsp:spPr>
        <a:xfrm>
          <a:off x="346297" y="259835"/>
          <a:ext cx="629632" cy="629632"/>
        </a:xfrm>
        <a:prstGeom prst="rect">
          <a:avLst/>
        </a:prstGeom>
        <a:blipFill>
          <a:blip xmlns:r="http://schemas.openxmlformats.org/officeDocument/2006/relationships" r:embed="rId1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E838E6B-630B-436A-B02B-3B74E62DE938}">
      <dsp:nvSpPr>
        <dsp:cNvPr id="0" name=""/>
        <dsp:cNvSpPr/>
      </dsp:nvSpPr>
      <dsp:spPr>
        <a:xfrm>
          <a:off x="1322227" y="2258"/>
          <a:ext cx="9329205" cy="11447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157" tIns="121157" rIns="121157" bIns="121157" numCol="1" spcCol="1270" anchor="ctr" anchorCtr="0">
          <a:noAutofit/>
        </a:bodyPr>
        <a:lstStyle/>
        <a:p>
          <a:pPr marL="0" lvl="0" indent="0" algn="l" defTabSz="9779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Monthly Highlights –</a:t>
          </a:r>
          <a:r>
            <a:rPr lang="en-US" sz="2200" b="1" kern="1200" dirty="0">
              <a:latin typeface="Calibri Light" panose="020F0302020204030204"/>
            </a:rPr>
            <a:t> June -2025</a:t>
          </a:r>
          <a:r>
            <a:rPr lang="en-US" sz="2200" b="1" kern="1200" dirty="0"/>
            <a:t>	</a:t>
          </a:r>
          <a:endParaRPr lang="en-IN" sz="2200" kern="1200" dirty="0"/>
        </a:p>
      </dsp:txBody>
      <dsp:txXfrm>
        <a:off x="1322227" y="2258"/>
        <a:ext cx="9329205" cy="1144786"/>
      </dsp:txXfrm>
    </dsp:sp>
    <dsp:sp modelId="{95DACB3C-DDF8-45FB-98F7-DF838D8F8B5A}">
      <dsp:nvSpPr>
        <dsp:cNvPr id="0" name=""/>
        <dsp:cNvSpPr/>
      </dsp:nvSpPr>
      <dsp:spPr>
        <a:xfrm>
          <a:off x="0" y="1433241"/>
          <a:ext cx="10651433" cy="1144786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129E7C-BA51-446C-AA27-9781A1580701}">
      <dsp:nvSpPr>
        <dsp:cNvPr id="0" name=""/>
        <dsp:cNvSpPr/>
      </dsp:nvSpPr>
      <dsp:spPr>
        <a:xfrm>
          <a:off x="346297" y="1690818"/>
          <a:ext cx="629632" cy="62963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021FDA9-C578-457F-ACE1-37A51F6632AA}">
      <dsp:nvSpPr>
        <dsp:cNvPr id="0" name=""/>
        <dsp:cNvSpPr/>
      </dsp:nvSpPr>
      <dsp:spPr>
        <a:xfrm>
          <a:off x="1322227" y="1433241"/>
          <a:ext cx="9329205" cy="11447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157" tIns="121157" rIns="121157" bIns="12115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Tasks Analysis – June</a:t>
          </a:r>
          <a:r>
            <a:rPr lang="en-US" sz="2200" b="0" kern="1200" dirty="0">
              <a:solidFill>
                <a:srgbClr val="000000"/>
              </a:solidFill>
              <a:latin typeface="Calibri"/>
              <a:ea typeface="Calibri"/>
              <a:cs typeface="Calibri"/>
            </a:rPr>
            <a:t> </a:t>
          </a:r>
          <a:r>
            <a:rPr lang="en-US" sz="2200" b="1" kern="1200" dirty="0">
              <a:solidFill>
                <a:schemeClr val="tx1"/>
              </a:solidFill>
              <a:latin typeface="Calibri Light" panose="020F0302020204030204"/>
            </a:rPr>
            <a:t>-2025</a:t>
          </a:r>
          <a:endParaRPr lang="en-US" sz="2200" b="1" kern="1200" dirty="0">
            <a:solidFill>
              <a:schemeClr val="tx1"/>
            </a:solidFill>
          </a:endParaRPr>
        </a:p>
      </dsp:txBody>
      <dsp:txXfrm>
        <a:off x="1322227" y="1433241"/>
        <a:ext cx="9329205" cy="1144786"/>
      </dsp:txXfrm>
    </dsp:sp>
    <dsp:sp modelId="{4429E328-4455-47A6-AAF1-BB6D949CB2F6}">
      <dsp:nvSpPr>
        <dsp:cNvPr id="0" name=""/>
        <dsp:cNvSpPr/>
      </dsp:nvSpPr>
      <dsp:spPr>
        <a:xfrm>
          <a:off x="0" y="2864223"/>
          <a:ext cx="10651433" cy="1144786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669613-6E6A-4818-9C4C-3CB85BF1DE9F}">
      <dsp:nvSpPr>
        <dsp:cNvPr id="0" name=""/>
        <dsp:cNvSpPr/>
      </dsp:nvSpPr>
      <dsp:spPr>
        <a:xfrm>
          <a:off x="346297" y="3121800"/>
          <a:ext cx="629632" cy="629632"/>
        </a:xfrm>
        <a:prstGeom prst="rect">
          <a:avLst/>
        </a:prstGeom>
        <a:blipFill>
          <a:blip xmlns:r="http://schemas.openxmlformats.org/officeDocument/2006/relationships" r:embed="rId5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AD0328A-D036-4C65-86CD-AFBBB33FCE84}">
      <dsp:nvSpPr>
        <dsp:cNvPr id="0" name=""/>
        <dsp:cNvSpPr/>
      </dsp:nvSpPr>
      <dsp:spPr>
        <a:xfrm>
          <a:off x="1322227" y="2864223"/>
          <a:ext cx="9329205" cy="11447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157" tIns="121157" rIns="121157" bIns="12115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Upcoming Activities – Next Months</a:t>
          </a:r>
          <a:endParaRPr lang="en-IN" sz="2200" kern="1200" dirty="0"/>
        </a:p>
      </dsp:txBody>
      <dsp:txXfrm>
        <a:off x="1322227" y="2864223"/>
        <a:ext cx="9329205" cy="1144786"/>
      </dsp:txXfrm>
    </dsp:sp>
    <dsp:sp modelId="{DEEA686F-2E8C-437D-A94B-3933334C8252}">
      <dsp:nvSpPr>
        <dsp:cNvPr id="0" name=""/>
        <dsp:cNvSpPr/>
      </dsp:nvSpPr>
      <dsp:spPr>
        <a:xfrm>
          <a:off x="0" y="4295206"/>
          <a:ext cx="10651433" cy="1144786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907F4E-3DE0-4000-A108-43E12F1414D1}">
      <dsp:nvSpPr>
        <dsp:cNvPr id="0" name=""/>
        <dsp:cNvSpPr/>
      </dsp:nvSpPr>
      <dsp:spPr>
        <a:xfrm>
          <a:off x="346297" y="4552783"/>
          <a:ext cx="629632" cy="62963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8F634A8-BBD5-41DF-AC69-819EDA7B09EB}">
      <dsp:nvSpPr>
        <dsp:cNvPr id="0" name=""/>
        <dsp:cNvSpPr/>
      </dsp:nvSpPr>
      <dsp:spPr>
        <a:xfrm>
          <a:off x="1322227" y="4295206"/>
          <a:ext cx="9329205" cy="11447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157" tIns="121157" rIns="121157" bIns="12115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Risks/Issues and Mitigations</a:t>
          </a:r>
          <a:endParaRPr lang="en-IN" sz="2200" kern="1200" dirty="0"/>
        </a:p>
      </dsp:txBody>
      <dsp:txXfrm>
        <a:off x="1322227" y="4295206"/>
        <a:ext cx="9329205" cy="11447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0.17257</cdr:x>
      <cdr:y>0.00318</cdr:y>
    </cdr:from>
    <cdr:to>
      <cdr:x>0.81869</cdr:x>
      <cdr:y>0.16628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9DA12C70-88EC-4AB0-A726-9C343B0044DD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952500" y="9525"/>
          <a:ext cx="3596952" cy="426757"/>
        </a:xfrm>
        <a:prstGeom xmlns:a="http://schemas.openxmlformats.org/drawingml/2006/main" prst="rect">
          <a:avLst/>
        </a:prstGeom>
        <a:gradFill xmlns:a="http://schemas.openxmlformats.org/drawingml/2006/main"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</cdr:spPr>
    </cdr:pic>
  </cdr:relSizeAnchor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3" name="chart">
          <a:extLst xmlns:a="http://schemas.openxmlformats.org/drawingml/2006/main">
            <a:ext uri="{FF2B5EF4-FFF2-40B4-BE49-F238E27FC236}">
              <a16:creationId xmlns:a16="http://schemas.microsoft.com/office/drawing/2014/main" id="{A4AE29C0-7D71-F7EB-F497-35A40627F207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2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5722832" cy="2627758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5F8CDA-4B1B-4AB0-B10E-25B24C276F5F}" type="datetimeFigureOut">
              <a:rPr lang="en-US" smtClean="0"/>
              <a:t>7/2/2025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E36494-04CF-4059-BEE2-7D366D904CA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363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D4DAA-7E8E-4DB8-A9AC-779371FEA7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38ADE6-4BF8-4A54-964E-FF55FD430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F7D5BA-DA40-4431-91EA-FAE20E371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E3C42-9AE8-4C57-A2D1-DB8D0436D806}" type="datetime1">
              <a:rPr lang="en-US" smtClean="0"/>
              <a:t>7/2/2025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26937F-71CA-4EC4-BB9F-B83F8AE1F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www.zensar.com | © Zensar Technologies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085AA-FC14-4D92-B680-DA82E5106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6ED64-E086-8F49-8C8D-88791C756D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1559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5B581-F068-4986-B0CC-C3C35FEA8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0CB22-9B44-40DB-A235-F5B8F58F4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7BE865-EEE7-4A00-9A51-D0B09EB56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D180E-A247-49A3-9475-BD27F9EA4A1C}" type="datetime1">
              <a:rPr lang="en-US" smtClean="0"/>
              <a:t>7/2/2025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BACDF-4A4C-4BA1-B423-783186174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www.zensar.com | © Zensar Technologies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E6D243-3BC6-4C6A-811F-89D38979A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6ED64-E086-8F49-8C8D-88791C756D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502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67609-507B-495F-9D6E-11294906F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DC6BBE-383D-419A-8002-9793B4F5BC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FD9CB-2763-45AB-8EAF-BD8C33E8B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76BD3-E6F7-4053-A0CB-866B529CDCCF}" type="datetime1">
              <a:rPr lang="en-US" smtClean="0"/>
              <a:t>7/2/2025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78E451-5929-48E8-8538-4B6F95C9A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www.zensar.com | © Zensar Technologies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6E7FCA-28A6-4B6E-A9AB-3A31751BE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6ED64-E086-8F49-8C8D-88791C756D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876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5891D-6C75-4346-BDFB-E2D49CA86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C1141-D575-4139-A3C6-26CF547B14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42FE79-5C9B-4A56-9A74-4C53A1DD3A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A3F61D-2F4B-4311-B29E-9FDF8431E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F98AA-A634-450D-A9DD-3F898B5BEF76}" type="datetime1">
              <a:rPr lang="en-US" smtClean="0"/>
              <a:t>7/2/2025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4B866E-6409-4D99-B524-A6808127F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www.zensar.com | © Zensar Technologies 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C58C44-DCF1-4C5E-A40A-46F578FB6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6ED64-E086-8F49-8C8D-88791C756D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98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55258-D235-4C66-ACBF-D0BE690D7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106BB4-AB1A-495D-AC82-FC9AF49114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0B29A4-A8E1-41B4-B3C6-60B1EB6D5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50D9D2-92D5-4E2D-8ABB-4AEF70FABC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AE2D67-51D7-46E2-B7BF-C0017E2582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AE6357-96E5-493C-A06B-6DED9154A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0BA15-8F52-496D-AFF1-D44F78FB25FE}" type="datetime1">
              <a:rPr lang="en-US" smtClean="0"/>
              <a:t>7/2/2025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D0BAAC-A881-4209-97AB-DAB2463F3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www.zensar.com | © Zensar Technologies 2025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FC6027-7917-4088-8F1D-53D93DA6D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6ED64-E086-8F49-8C8D-88791C756D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1094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8E985-6AE7-4DC8-9137-D5B60A671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E05B30-0125-491A-BBD4-64D3480A3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BF784-F938-42E4-9944-38E7DA9D2A21}" type="datetime1">
              <a:rPr lang="en-US" smtClean="0"/>
              <a:t>7/2/2025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DC390-A20C-4548-9C33-0F28AC8D8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www.zensar.com | © Zensar Technologies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8F5136-7233-4903-A1F8-7E758D1B8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6ED64-E086-8F49-8C8D-88791C756D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238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738208-6FE6-446A-A7E2-B7603A70A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EEC99-E3C8-4DA0-B128-75F7221AF282}" type="datetime1">
              <a:rPr lang="en-US" smtClean="0"/>
              <a:t>7/2/2025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6666DB-41D2-492B-9B38-8C83F70C5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www.zensar.com | © Zensar Technologies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2B34E4-4FDF-42CA-8C54-1B1258B07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6ED64-E086-8F49-8C8D-88791C756D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7278E-F05B-4C3D-B3B9-DEEDE5B85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7D0F8-DA6D-4F5A-B744-64985F643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77AF68-9782-4F82-B7AF-0265F27158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C4C99C-AA4E-4525-A8B2-AB73031FE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821C8-85BD-4154-859E-38673E7DCF84}" type="datetime1">
              <a:rPr lang="en-US" smtClean="0"/>
              <a:t>7/2/2025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0F001-9411-4E18-81AC-F7E4929C4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www.zensar.com | © Zensar Technologies 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D40016-BD3C-4416-A142-E1796227C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6ED64-E086-8F49-8C8D-88791C756D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7396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D676B-BF43-41E3-A683-8289D5ABA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60F662-0E30-4F2C-BD04-7D78C760FA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581271-BB75-4275-B7A8-C0163E9F4E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0E19AC-6E60-4BE6-B6E0-F86D39751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9A29D-26F1-499D-8811-C4C7AFA210B3}" type="datetime1">
              <a:rPr lang="en-US" smtClean="0"/>
              <a:t>7/2/2025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0F9CA7-8883-4A0A-9FFC-28E7C1EA0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www.zensar.com | © Zensar Technologies 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1984E1-6238-403B-9212-0057CD2A7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6ED64-E086-8F49-8C8D-88791C756D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063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0DD73-4ACA-4164-ABCA-6404A8112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A05426-40D9-4793-935E-9750315E22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E57148-9DE6-45BA-B6A6-1745D2B86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FFB9C-6549-46A2-B8ED-683B76D8B816}" type="datetime1">
              <a:rPr lang="en-US" smtClean="0"/>
              <a:t>7/2/2025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718040-0FE2-43CA-94FD-84EFDBB0C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www.zensar.com | © Zensar Technologies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FF03B-5E0F-476B-B785-3F2A417CA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6ED64-E086-8F49-8C8D-88791C756D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323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BE64ED-C3E9-4D0E-BD84-67FEBC975B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FA9C80-0D29-4A15-A9CA-63087871B2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5B041C-CB06-4255-85BD-D4EF6B018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F3D96-E94C-4DC6-B71D-ECD81DF63E6A}" type="datetime1">
              <a:rPr lang="en-US" smtClean="0"/>
              <a:t>7/2/2025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02CF9D-FC40-400F-9662-00702B866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www.zensar.com | © Zensar Technologies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176E9A-4F11-4D33-AA61-5F34A1910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6ED64-E086-8F49-8C8D-88791C756D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90648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46A13DD6-8886-4F0F-9679-7E0D4E7C75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/>
          <a:stretch/>
        </p:blipFill>
        <p:spPr>
          <a:xfrm>
            <a:off x="0" y="0"/>
            <a:ext cx="10809865" cy="6858000"/>
          </a:xfrm>
          <a:prstGeom prst="rect">
            <a:avLst/>
          </a:prstGeom>
        </p:spPr>
      </p:pic>
      <p:sp>
        <p:nvSpPr>
          <p:cNvPr id="15" name="Right Triangle 14">
            <a:extLst>
              <a:ext uri="{FF2B5EF4-FFF2-40B4-BE49-F238E27FC236}">
                <a16:creationId xmlns:a16="http://schemas.microsoft.com/office/drawing/2014/main" id="{853B98BF-F8F7-4EBC-B4E3-0D0318959B5C}"/>
              </a:ext>
            </a:extLst>
          </p:cNvPr>
          <p:cNvSpPr/>
          <p:nvPr userDrawn="1"/>
        </p:nvSpPr>
        <p:spPr>
          <a:xfrm>
            <a:off x="0" y="0"/>
            <a:ext cx="7188451" cy="6858000"/>
          </a:xfrm>
          <a:prstGeom prst="rtTriangle">
            <a:avLst/>
          </a:prstGeom>
          <a:solidFill>
            <a:srgbClr val="45116C">
              <a:alpha val="71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B2B8B7C-9F41-4CF7-A918-AE6EC991EC9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3909" y="200678"/>
            <a:ext cx="1388983" cy="407546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3377004E-987C-4671-8EC3-1DE72A0ABE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5164" y="4221600"/>
            <a:ext cx="5138738" cy="796826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31C5026-242E-468E-AB02-2B2BB93B3D1F}"/>
              </a:ext>
            </a:extLst>
          </p:cNvPr>
          <p:cNvCxnSpPr>
            <a:cxnSpLocks/>
          </p:cNvCxnSpPr>
          <p:nvPr userDrawn="1"/>
        </p:nvCxnSpPr>
        <p:spPr>
          <a:xfrm>
            <a:off x="185164" y="5018426"/>
            <a:ext cx="431859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E48951A2-002A-4804-AF10-A9F8C8986DA5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191811" y="5185048"/>
            <a:ext cx="5144601" cy="630204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482EC-0A4C-D448-AA5A-6DB90BF3A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06478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 www.zensar.com | © Zensar Technologies 2025</a:t>
            </a:r>
          </a:p>
        </p:txBody>
      </p:sp>
    </p:spTree>
    <p:extLst>
      <p:ext uri="{BB962C8B-B14F-4D97-AF65-F5344CB8AC3E}">
        <p14:creationId xmlns:p14="http://schemas.microsoft.com/office/powerpoint/2010/main" val="25542156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014BF-0961-0B48-9E30-0355E891CC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1" y="6506479"/>
            <a:ext cx="2743200" cy="365125"/>
          </a:xfrm>
        </p:spPr>
        <p:txBody>
          <a:bodyPr/>
          <a:lstStyle/>
          <a:p>
            <a:fld id="{D7C05EAE-3787-4EB2-A9C7-A15322C005B7}" type="datetime1">
              <a:rPr lang="en-US" smtClean="0"/>
              <a:t>7/2/2025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482EC-0A4C-D448-AA5A-6DB90BF3A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1" y="6506479"/>
            <a:ext cx="4114800" cy="365125"/>
          </a:xfrm>
        </p:spPr>
        <p:txBody>
          <a:bodyPr/>
          <a:lstStyle/>
          <a:p>
            <a:r>
              <a:rPr lang="en-US" dirty="0"/>
              <a:t> www.zensar.com | © Zensar Technologies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758B8F-94B3-0541-8D70-2666B2B22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06479"/>
            <a:ext cx="2743200" cy="365125"/>
          </a:xfrm>
        </p:spPr>
        <p:txBody>
          <a:bodyPr/>
          <a:lstStyle/>
          <a:p>
            <a:fld id="{9AA6ED64-E086-8F49-8C8D-88791C756DA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C962C2A-63A2-45B1-97C7-3754220B4D4E}"/>
              </a:ext>
            </a:extLst>
          </p:cNvPr>
          <p:cNvCxnSpPr/>
          <p:nvPr userDrawn="1"/>
        </p:nvCxnSpPr>
        <p:spPr>
          <a:xfrm>
            <a:off x="0" y="962137"/>
            <a:ext cx="12192000" cy="0"/>
          </a:xfrm>
          <a:prstGeom prst="line">
            <a:avLst/>
          </a:prstGeom>
          <a:ln w="19050">
            <a:solidFill>
              <a:srgbClr val="B900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7F8BA5DF-CC6C-4B75-B040-8C9FFA2F9A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3910" y="214547"/>
            <a:ext cx="1388983" cy="407546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8FC414F-908D-412A-963C-072792717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912" y="110179"/>
            <a:ext cx="5782614" cy="796826"/>
          </a:xfrm>
        </p:spPr>
        <p:txBody>
          <a:bodyPr>
            <a:normAutofit/>
          </a:bodyPr>
          <a:lstStyle>
            <a:lvl1pPr>
              <a:defRPr sz="315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476720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3A257A0-06A0-4CA1-BA83-0F15DEF2D2F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2BC5D3-6380-4387-A00C-9006FB90A970}"/>
              </a:ext>
            </a:extLst>
          </p:cNvPr>
          <p:cNvSpPr/>
          <p:nvPr userDrawn="1"/>
        </p:nvSpPr>
        <p:spPr>
          <a:xfrm>
            <a:off x="8786468" y="5010381"/>
            <a:ext cx="277511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Verdana" panose="020B0604030504040204" pitchFamily="34" charset="0"/>
              </a:rPr>
              <a:t>Thank you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E3C715-33C5-4225-BDE5-79FB3912D4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4768" y="286525"/>
            <a:ext cx="2269583" cy="662914"/>
          </a:xfrm>
          <a:prstGeom prst="rect">
            <a:avLst/>
          </a:prstGeom>
        </p:spPr>
      </p:pic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EA1EEA3E-3137-41CA-998F-A1303B37EA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0647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1007979-AB94-4182-989A-138A172D81E4}" type="datetime1">
              <a:rPr lang="en-US" smtClean="0"/>
              <a:t>7/2/2025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2B0E1CDC-4197-4347-87D8-334FF4B8B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06478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 www.zensar.com | © Zensar Technologies 2025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9F4DEF4-1728-4A71-9ED4-4EE41FB02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0647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AA6ED64-E086-8F49-8C8D-88791C756DA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1527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014BF-0961-0B48-9E30-0355E891CC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06478"/>
            <a:ext cx="2743200" cy="365125"/>
          </a:xfrm>
        </p:spPr>
        <p:txBody>
          <a:bodyPr/>
          <a:lstStyle/>
          <a:p>
            <a:fld id="{B9C03B40-BF5D-4769-887D-5C00914BA39F}" type="datetime1">
              <a:rPr lang="en-US" smtClean="0"/>
              <a:t>7/2/2025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482EC-0A4C-D448-AA5A-6DB90BF3A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06478"/>
            <a:ext cx="4114800" cy="365125"/>
          </a:xfrm>
        </p:spPr>
        <p:txBody>
          <a:bodyPr/>
          <a:lstStyle/>
          <a:p>
            <a:r>
              <a:rPr lang="en-US" dirty="0"/>
              <a:t> www.zensar.com | © Zensar Technologies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758B8F-94B3-0541-8D70-2666B2B22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06478"/>
            <a:ext cx="2743200" cy="365125"/>
          </a:xfrm>
        </p:spPr>
        <p:txBody>
          <a:bodyPr/>
          <a:lstStyle/>
          <a:p>
            <a:fld id="{9AA6ED64-E086-8F49-8C8D-88791C756DA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C962C2A-63A2-45B1-97C7-3754220B4D4E}"/>
              </a:ext>
            </a:extLst>
          </p:cNvPr>
          <p:cNvCxnSpPr/>
          <p:nvPr userDrawn="1"/>
        </p:nvCxnSpPr>
        <p:spPr>
          <a:xfrm>
            <a:off x="0" y="962137"/>
            <a:ext cx="12192000" cy="0"/>
          </a:xfrm>
          <a:prstGeom prst="line">
            <a:avLst/>
          </a:prstGeom>
          <a:ln w="19050">
            <a:solidFill>
              <a:srgbClr val="B900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7F8BA5DF-CC6C-4B75-B040-8C9FFA2F9A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3909" y="214547"/>
            <a:ext cx="1388983" cy="407546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8FC414F-908D-412A-963C-072792717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911" y="110179"/>
            <a:ext cx="5782614" cy="796826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976795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014BF-0961-0B48-9E30-0355E891CC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06478"/>
            <a:ext cx="2743200" cy="365125"/>
          </a:xfrm>
        </p:spPr>
        <p:txBody>
          <a:bodyPr/>
          <a:lstStyle/>
          <a:p>
            <a:fld id="{B09CC727-9085-4C4D-A988-AC3B64A374BE}" type="datetime1">
              <a:rPr lang="en-US" smtClean="0"/>
              <a:t>7/2/2025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482EC-0A4C-D448-AA5A-6DB90BF3A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06478"/>
            <a:ext cx="4114800" cy="365125"/>
          </a:xfrm>
        </p:spPr>
        <p:txBody>
          <a:bodyPr/>
          <a:lstStyle/>
          <a:p>
            <a:r>
              <a:rPr lang="en-US" dirty="0"/>
              <a:t> www.zensar.com | © Zensar Technologies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758B8F-94B3-0541-8D70-2666B2B22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06478"/>
            <a:ext cx="2743200" cy="365125"/>
          </a:xfrm>
        </p:spPr>
        <p:txBody>
          <a:bodyPr/>
          <a:lstStyle/>
          <a:p>
            <a:fld id="{9AA6ED64-E086-8F49-8C8D-88791C756DA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C468021-7B91-46FA-9B24-4331D0F36158}"/>
              </a:ext>
            </a:extLst>
          </p:cNvPr>
          <p:cNvCxnSpPr/>
          <p:nvPr userDrawn="1"/>
        </p:nvCxnSpPr>
        <p:spPr>
          <a:xfrm>
            <a:off x="0" y="1375078"/>
            <a:ext cx="12192000" cy="0"/>
          </a:xfrm>
          <a:prstGeom prst="line">
            <a:avLst/>
          </a:prstGeom>
          <a:ln w="19050">
            <a:solidFill>
              <a:srgbClr val="B900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B5B273DD-3573-4266-9D5B-18FC441C45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4994" y="165310"/>
            <a:ext cx="10515600" cy="1209761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D7E7B1-9887-464B-9010-05EABFBAC1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3909" y="214547"/>
            <a:ext cx="1388983" cy="40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7336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B71FB0A-90BC-4B7E-87E4-A3A14C104C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2192000" cy="68664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B256C7B-1450-4FEA-9C81-81D63C77C3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7564" y="199292"/>
            <a:ext cx="1525156" cy="44547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014BF-0961-0B48-9E30-0355E891CC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0647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3CF0EB0-78B1-4AEE-AFC7-C846B0FCC074}" type="datetime1">
              <a:rPr lang="en-US" smtClean="0"/>
              <a:t>7/2/2025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482EC-0A4C-D448-AA5A-6DB90BF3A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06478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 www.zensar.com | © Zensar Technologies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758B8F-94B3-0541-8D70-2666B2B22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0647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AA6ED64-E086-8F49-8C8D-88791C756DA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3377004E-987C-4671-8EC3-1DE72A0ABE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34200" y="3026361"/>
            <a:ext cx="5138738" cy="796826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31C5026-242E-468E-AB02-2B2BB93B3D1F}"/>
              </a:ext>
            </a:extLst>
          </p:cNvPr>
          <p:cNvCxnSpPr>
            <a:cxnSpLocks/>
          </p:cNvCxnSpPr>
          <p:nvPr userDrawn="1"/>
        </p:nvCxnSpPr>
        <p:spPr>
          <a:xfrm>
            <a:off x="6934200" y="3823187"/>
            <a:ext cx="5257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E48951A2-002A-4804-AF10-A9F8C8986DA5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6940847" y="3989809"/>
            <a:ext cx="5144601" cy="630204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51474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67EF063-7E22-4BE4-92D3-D55FF7A3F7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-4226"/>
            <a:ext cx="12192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B256C7B-1450-4FEA-9C81-81D63C77C3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7564" y="199292"/>
            <a:ext cx="1525156" cy="44547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014BF-0961-0B48-9E30-0355E891CC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0647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34C11A9-2AF2-497D-BC08-D5286999F893}" type="datetime1">
              <a:rPr lang="en-US" smtClean="0"/>
              <a:t>7/2/2025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482EC-0A4C-D448-AA5A-6DB90BF3A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06478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 www.zensar.com | © Zensar Technologies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758B8F-94B3-0541-8D70-2666B2B22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0647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AA6ED64-E086-8F49-8C8D-88791C756DA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3377004E-987C-4671-8EC3-1DE72A0ABE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34200" y="3026361"/>
            <a:ext cx="5138738" cy="796826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31C5026-242E-468E-AB02-2B2BB93B3D1F}"/>
              </a:ext>
            </a:extLst>
          </p:cNvPr>
          <p:cNvCxnSpPr>
            <a:cxnSpLocks/>
          </p:cNvCxnSpPr>
          <p:nvPr userDrawn="1"/>
        </p:nvCxnSpPr>
        <p:spPr>
          <a:xfrm>
            <a:off x="6934200" y="3823187"/>
            <a:ext cx="5257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E48951A2-002A-4804-AF10-A9F8C8986DA5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6940847" y="3989809"/>
            <a:ext cx="5144601" cy="630204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108861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F4F9BC3-AC91-44D6-95AC-64BFB637C4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200" y="1842747"/>
            <a:ext cx="1713899" cy="1586253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2612D2FE-E4E1-4FA0-B18D-6442B6E959A8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3854356" y="1842747"/>
            <a:ext cx="1713899" cy="1586253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46FF19D-248E-4368-82D0-92701B955B26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6896701" y="1842747"/>
            <a:ext cx="1713899" cy="1586253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29BAC49-0275-4574-8CC2-13D9E44AEFE3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9790026" y="1842747"/>
            <a:ext cx="1713899" cy="1586253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C26F7A-086F-431B-B0AD-83FEB78B95E5}"/>
              </a:ext>
            </a:extLst>
          </p:cNvPr>
          <p:cNvSpPr/>
          <p:nvPr userDrawn="1"/>
        </p:nvSpPr>
        <p:spPr>
          <a:xfrm>
            <a:off x="0" y="3759457"/>
            <a:ext cx="12192000" cy="2432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45A6D422-3F1C-407A-BF86-083718BAAE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06478"/>
            <a:ext cx="2743200" cy="365125"/>
          </a:xfrm>
        </p:spPr>
        <p:txBody>
          <a:bodyPr/>
          <a:lstStyle/>
          <a:p>
            <a:fld id="{53F0038D-12AD-4B3A-9A78-091195543147}" type="datetime1">
              <a:rPr lang="en-US" smtClean="0"/>
              <a:t>7/2/2025</a:t>
            </a:fld>
            <a:endParaRPr lang="en-US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B59564A0-7867-4210-A531-4B40570EA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06478"/>
            <a:ext cx="4114800" cy="365125"/>
          </a:xfrm>
        </p:spPr>
        <p:txBody>
          <a:bodyPr/>
          <a:lstStyle/>
          <a:p>
            <a:r>
              <a:rPr lang="en-US" dirty="0"/>
              <a:t> www.zensar.com | © Zensar Technologies 2025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0667CC76-9186-404E-8022-00DA3D3B9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06478"/>
            <a:ext cx="2743200" cy="365125"/>
          </a:xfrm>
        </p:spPr>
        <p:txBody>
          <a:bodyPr/>
          <a:lstStyle/>
          <a:p>
            <a:fld id="{9AA6ED64-E086-8F49-8C8D-88791C756DA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D7EF36F-1FEB-4E5E-8EF9-AE616B945DF6}"/>
              </a:ext>
            </a:extLst>
          </p:cNvPr>
          <p:cNvCxnSpPr/>
          <p:nvPr userDrawn="1"/>
        </p:nvCxnSpPr>
        <p:spPr>
          <a:xfrm>
            <a:off x="0" y="962137"/>
            <a:ext cx="12192000" cy="0"/>
          </a:xfrm>
          <a:prstGeom prst="line">
            <a:avLst/>
          </a:prstGeom>
          <a:ln w="19050">
            <a:solidFill>
              <a:srgbClr val="B900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itle 1">
            <a:extLst>
              <a:ext uri="{FF2B5EF4-FFF2-40B4-BE49-F238E27FC236}">
                <a16:creationId xmlns:a16="http://schemas.microsoft.com/office/drawing/2014/main" id="{A5F18068-A573-4B6E-8D91-C265C318B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994" y="165311"/>
            <a:ext cx="10515600" cy="79682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9B0129CD-3F44-4C9A-BC79-F380013FA936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688075" y="3994301"/>
            <a:ext cx="5144601" cy="2038009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81560CA5-1352-448F-A048-75121107961D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6520751" y="3994301"/>
            <a:ext cx="4983174" cy="2038009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00CB6CF-8E31-694B-AC2D-571BF38C0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3909" y="214547"/>
            <a:ext cx="1388983" cy="40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240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014BF-0961-0B48-9E30-0355E891CC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1" y="6506479"/>
            <a:ext cx="2743200" cy="365125"/>
          </a:xfrm>
        </p:spPr>
        <p:txBody>
          <a:bodyPr/>
          <a:lstStyle/>
          <a:p>
            <a:fld id="{616A0E3D-6EDD-4B8C-B627-B8B8B852051C}" type="datetime1">
              <a:rPr lang="en-US" smtClean="0"/>
              <a:t>7/2/2025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482EC-0A4C-D448-AA5A-6DB90BF3A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1" y="6506479"/>
            <a:ext cx="4114800" cy="365125"/>
          </a:xfrm>
        </p:spPr>
        <p:txBody>
          <a:bodyPr/>
          <a:lstStyle/>
          <a:p>
            <a:r>
              <a:rPr lang="en-US" dirty="0"/>
              <a:t> www.zensar.com | © Zensar Technologies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758B8F-94B3-0541-8D70-2666B2B22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06479"/>
            <a:ext cx="2743200" cy="365125"/>
          </a:xfrm>
        </p:spPr>
        <p:txBody>
          <a:bodyPr/>
          <a:lstStyle/>
          <a:p>
            <a:fld id="{9AA6ED64-E086-8F49-8C8D-88791C756DA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C962C2A-63A2-45B1-97C7-3754220B4D4E}"/>
              </a:ext>
            </a:extLst>
          </p:cNvPr>
          <p:cNvCxnSpPr/>
          <p:nvPr userDrawn="1"/>
        </p:nvCxnSpPr>
        <p:spPr>
          <a:xfrm>
            <a:off x="0" y="962137"/>
            <a:ext cx="12192000" cy="0"/>
          </a:xfrm>
          <a:prstGeom prst="line">
            <a:avLst/>
          </a:prstGeom>
          <a:ln w="19050">
            <a:solidFill>
              <a:srgbClr val="B900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7F8BA5DF-CC6C-4B75-B040-8C9FFA2F9A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3910" y="214547"/>
            <a:ext cx="1388983" cy="407546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8FC414F-908D-412A-963C-072792717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912" y="110179"/>
            <a:ext cx="5782614" cy="796826"/>
          </a:xfrm>
        </p:spPr>
        <p:txBody>
          <a:bodyPr>
            <a:normAutofit/>
          </a:bodyPr>
          <a:lstStyle>
            <a:lvl1pPr>
              <a:defRPr sz="315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01657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6A3DF7-F457-4055-A11D-8323CA207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AEDF0A-71B2-4CB4-B932-A85BD8BFB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B9DFF-247F-49FA-9CC8-C7FAAFFB1E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EB8E97-6A51-444A-8F5A-7609B94C8D01}" type="datetime1">
              <a:rPr lang="en-US" smtClean="0"/>
              <a:t>7/2/2025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6AAF6-1253-4619-A605-A721ABF9DB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 www.zensar.com | © Zensar Technologies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22D68-E538-424C-97B3-28BAE140C2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A6ED64-E086-8F49-8C8D-88791C756D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333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661" r:id="rId15"/>
    <p:sldLayoutId id="2147483662" r:id="rId16"/>
    <p:sldLayoutId id="2147483664" r:id="rId17"/>
    <p:sldLayoutId id="2147483665" r:id="rId18"/>
    <p:sldLayoutId id="2147483667" r:id="rId19"/>
    <p:sldLayoutId id="2147483677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8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462EA-2A13-4734-9927-D18CAE0AB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612836"/>
            <a:ext cx="6823882" cy="796826"/>
          </a:xfrm>
        </p:spPr>
        <p:txBody>
          <a:bodyPr>
            <a:normAutofit fontScale="90000"/>
          </a:bodyPr>
          <a:lstStyle/>
          <a:p>
            <a:r>
              <a:rPr lang="en-IN" dirty="0"/>
              <a:t>Zensar DBA Shared Support Service</a:t>
            </a:r>
            <a:br>
              <a:rPr lang="en-IN" dirty="0"/>
            </a:br>
            <a:r>
              <a:rPr lang="en-IN" dirty="0"/>
              <a:t>Monthly Report – June- 2025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C631C5-6D54-489C-B8CE-2C770FA1A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www.zensar.com | © Zensar Technologies 2025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F436A4-97D3-4B30-9D62-74E5CFCB2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64" y="195884"/>
            <a:ext cx="3352800" cy="4762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472084B-C076-4BB4-B585-32B0E8FFC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2748" y="213317"/>
            <a:ext cx="1562100" cy="59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896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C617B5-EB32-4C41-86D8-52194A4DB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743B8-4EB8-46C1-B4AB-282429E5087F}" type="datetime1">
              <a:rPr lang="en-US" smtClean="0"/>
              <a:t>7/2/2025</a:t>
            </a:fld>
            <a:endParaRPr lang="en-US" dirty="0"/>
          </a:p>
        </p:txBody>
      </p:sp>
      <p:sp>
        <p:nvSpPr>
          <p:cNvPr id="43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www.zensar.com | © Zensar Technologies 2025</a:t>
            </a:r>
          </a:p>
        </p:txBody>
      </p:sp>
      <p:sp>
        <p:nvSpPr>
          <p:cNvPr id="41" name="Slide Number Placeholder 4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BA1-0C0F-2848-A6D5-D57D345543D1}" type="slidenum">
              <a:rPr lang="en-US" smtClean="0"/>
              <a:t>2</a:t>
            </a:fld>
            <a:endParaRPr lang="en-US" dirty="0"/>
          </a:p>
        </p:txBody>
      </p:sp>
      <p:sp>
        <p:nvSpPr>
          <p:cNvPr id="24" name="Title 4">
            <a:extLst>
              <a:ext uri="{FF2B5EF4-FFF2-40B4-BE49-F238E27FC236}">
                <a16:creationId xmlns:a16="http://schemas.microsoft.com/office/drawing/2014/main" id="{2D6E91CA-C4A8-40A8-BDD6-4960360A9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365" y="110179"/>
            <a:ext cx="10465003" cy="796826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Table of Content		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7047E9B9-A2C9-4510-8A27-C48D338526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46949662"/>
              </p:ext>
            </p:extLst>
          </p:nvPr>
        </p:nvGraphicFramePr>
        <p:xfrm>
          <a:off x="702365" y="1064228"/>
          <a:ext cx="10651433" cy="54422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5851AC35-7923-4BD2-A993-F0E272CFA6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72748" y="213317"/>
            <a:ext cx="1562100" cy="59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799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C617B5-EB32-4C41-86D8-52194A4DB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9F4A8-C267-41B8-8982-658921C9062B}" type="datetime1">
              <a:rPr lang="en-US" smtClean="0"/>
              <a:t>7/2/2025</a:t>
            </a:fld>
            <a:endParaRPr lang="en-US" dirty="0"/>
          </a:p>
        </p:txBody>
      </p:sp>
      <p:sp>
        <p:nvSpPr>
          <p:cNvPr id="43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www.zensar.com | © Zensar Technologies 2025</a:t>
            </a:r>
          </a:p>
        </p:txBody>
      </p:sp>
      <p:sp>
        <p:nvSpPr>
          <p:cNvPr id="41" name="Slide Number Placeholder 4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BA1-0C0F-2848-A6D5-D57D345543D1}" type="slidenum">
              <a:rPr lang="en-US" smtClean="0"/>
              <a:t>3</a:t>
            </a:fld>
            <a:endParaRPr lang="en-US" dirty="0"/>
          </a:p>
        </p:txBody>
      </p:sp>
      <p:sp>
        <p:nvSpPr>
          <p:cNvPr id="24" name="Title 4">
            <a:extLst>
              <a:ext uri="{FF2B5EF4-FFF2-40B4-BE49-F238E27FC236}">
                <a16:creationId xmlns:a16="http://schemas.microsoft.com/office/drawing/2014/main" id="{2D6E91CA-C4A8-40A8-BDD6-4960360A9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77" y="122057"/>
            <a:ext cx="10465003" cy="796826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Monthly Highlights EBS  – </a:t>
            </a:r>
            <a:r>
              <a:rPr lang="en-IN" sz="36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/>
                <a:ea typeface="Calibri Light"/>
                <a:cs typeface="Calibri Light"/>
              </a:rPr>
              <a:t>June </a:t>
            </a:r>
            <a:r>
              <a:rPr lang="en-IN" sz="36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2025			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1867C8-5124-4AA5-8754-66BF339E6728}"/>
              </a:ext>
            </a:extLst>
          </p:cNvPr>
          <p:cNvSpPr/>
          <p:nvPr/>
        </p:nvSpPr>
        <p:spPr>
          <a:xfrm>
            <a:off x="130377" y="1303738"/>
            <a:ext cx="11621928" cy="34195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/>
              <a:t>Oracle Recommendations: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tx1"/>
                </a:solidFill>
                <a:latin typeface="Oracle Sans" panose="020B0503020204020204" pitchFamily="34" charset="0"/>
                <a:cs typeface="Oracle Sans" panose="020B0503020204020204" pitchFamily="34" charset="0"/>
              </a:rPr>
              <a:t>Creating Notifications topics and subscriptions for OCI announcements.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Oracle Sans" panose="020B0503020204020204" pitchFamily="34" charset="0"/>
            </a:endParaRPr>
          </a:p>
          <a:p>
            <a:pPr algn="just">
              <a:lnSpc>
                <a:spcPct val="150000"/>
              </a:lnSpc>
            </a:pPr>
            <a:endParaRPr lang="en-US" dirty="0"/>
          </a:p>
          <a:p>
            <a:pPr algn="just">
              <a:lnSpc>
                <a:spcPct val="150000"/>
              </a:lnSpc>
            </a:pPr>
            <a:endParaRPr lang="en-US" dirty="0"/>
          </a:p>
          <a:p>
            <a:pPr algn="just">
              <a:lnSpc>
                <a:spcPct val="150000"/>
              </a:lnSpc>
            </a:pPr>
            <a:endParaRPr lang="en-US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31974CD-0A61-43F6-88E5-7E56A8604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48" y="213317"/>
            <a:ext cx="1562100" cy="59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043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C617B5-EB32-4C41-86D8-52194A4DB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E93E6-9640-48F7-9C96-087351114259}" type="datetime1">
              <a:rPr lang="en-US" smtClean="0"/>
              <a:t>7/2/2025</a:t>
            </a:fld>
            <a:endParaRPr lang="en-US" dirty="0"/>
          </a:p>
        </p:txBody>
      </p:sp>
      <p:sp>
        <p:nvSpPr>
          <p:cNvPr id="43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www.zensar.com | © Zensar Technologies 2025</a:t>
            </a:r>
          </a:p>
        </p:txBody>
      </p:sp>
      <p:sp>
        <p:nvSpPr>
          <p:cNvPr id="41" name="Slide Number Placeholder 4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BA1-0C0F-2848-A6D5-D57D345543D1}" type="slidenum">
              <a:rPr lang="en-US" smtClean="0"/>
              <a:t>4</a:t>
            </a:fld>
            <a:endParaRPr lang="en-US" dirty="0"/>
          </a:p>
        </p:txBody>
      </p:sp>
      <p:sp>
        <p:nvSpPr>
          <p:cNvPr id="24" name="Title 4">
            <a:extLst>
              <a:ext uri="{FF2B5EF4-FFF2-40B4-BE49-F238E27FC236}">
                <a16:creationId xmlns:a16="http://schemas.microsoft.com/office/drawing/2014/main" id="{2D6E91CA-C4A8-40A8-BDD6-4960360A9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22057"/>
            <a:ext cx="10481480" cy="796826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Monthly Highlights EBS  – June 2025				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1867C8-5124-4AA5-8754-66BF339E6728}"/>
              </a:ext>
            </a:extLst>
          </p:cNvPr>
          <p:cNvSpPr/>
          <p:nvPr/>
        </p:nvSpPr>
        <p:spPr>
          <a:xfrm>
            <a:off x="360218" y="1191491"/>
            <a:ext cx="11623234" cy="1015983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/>
              <a:t>Highlights</a:t>
            </a:r>
          </a:p>
          <a:p>
            <a:pPr algn="just">
              <a:lnSpc>
                <a:spcPct val="150000"/>
              </a:lnSpc>
            </a:pPr>
            <a:endParaRPr lang="en-US" b="1" dirty="0"/>
          </a:p>
          <a:p>
            <a:pPr marL="285750" indent="-285750" algn="just">
              <a:buFont typeface="Wingdings,Sans-Serif"/>
              <a:buChar char="§"/>
            </a:pPr>
            <a:r>
              <a:rPr lang="en-US" dirty="0">
                <a:ea typeface="+mn-lt"/>
                <a:cs typeface="+mn-lt"/>
              </a:rPr>
              <a:t>DEV Refresh completed successfully.</a:t>
            </a:r>
          </a:p>
          <a:p>
            <a:pPr marL="285750" indent="-285750" algn="just">
              <a:buFont typeface="Wingdings,Sans-Serif"/>
              <a:buChar char="§"/>
            </a:pPr>
            <a:r>
              <a:rPr lang="en-US" dirty="0">
                <a:ea typeface="+mn-lt"/>
                <a:cs typeface="+mn-lt"/>
              </a:rPr>
              <a:t>UAT in EBS URL changed from .com to </a:t>
            </a:r>
            <a:r>
              <a:rPr lang="en-US" dirty="0" err="1">
                <a:ea typeface="+mn-lt"/>
                <a:cs typeface="+mn-lt"/>
              </a:rPr>
              <a:t>.net</a:t>
            </a:r>
            <a:r>
              <a:rPr lang="en-US" dirty="0">
                <a:ea typeface="+mn-lt"/>
                <a:cs typeface="+mn-lt"/>
              </a:rPr>
              <a:t> completed successfully and Logo, sign issue resolved. </a:t>
            </a:r>
          </a:p>
          <a:p>
            <a:pPr marL="285750" indent="-285750" algn="just">
              <a:buFont typeface="Wingdings,Sans-Serif"/>
              <a:buChar char="§"/>
            </a:pPr>
            <a:r>
              <a:rPr lang="en-US" dirty="0">
                <a:ea typeface="+mn-lt"/>
                <a:cs typeface="+mn-lt"/>
              </a:rPr>
              <a:t>DEV .com to </a:t>
            </a:r>
            <a:r>
              <a:rPr lang="en-US" dirty="0" err="1">
                <a:ea typeface="+mn-lt"/>
                <a:cs typeface="+mn-lt"/>
              </a:rPr>
              <a:t>.net</a:t>
            </a:r>
            <a:r>
              <a:rPr lang="en-US" dirty="0">
                <a:ea typeface="+mn-lt"/>
                <a:cs typeface="+mn-lt"/>
              </a:rPr>
              <a:t> change in URL - reverted back.</a:t>
            </a:r>
          </a:p>
          <a:p>
            <a:pPr algn="just"/>
            <a:endParaRPr lang="en-US" dirty="0">
              <a:ea typeface="+mn-lt"/>
              <a:cs typeface="+mn-lt"/>
            </a:endParaRPr>
          </a:p>
          <a:p>
            <a:pPr marL="285750" indent="-285750" algn="just">
              <a:buFont typeface="Wingdings,Sans-Serif"/>
              <a:buChar char="§"/>
            </a:pPr>
            <a:endParaRPr lang="en-US" dirty="0">
              <a:ea typeface="+mn-lt"/>
              <a:cs typeface="+mn-lt"/>
            </a:endParaRPr>
          </a:p>
          <a:p>
            <a:pPr algn="just"/>
            <a:endParaRPr lang="en-US" dirty="0">
              <a:ea typeface="Calibri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endParaRPr lang="en-US" dirty="0">
              <a:ea typeface="Calibri"/>
              <a:cs typeface="Calibri"/>
            </a:endParaRPr>
          </a:p>
          <a:p>
            <a:pPr marL="285750" indent="-285750" algn="just">
              <a:buFont typeface="Wingdings"/>
              <a:buChar char="§"/>
            </a:pPr>
            <a:endParaRPr lang="en-US" dirty="0">
              <a:ea typeface="Calibri"/>
              <a:cs typeface="Calibri"/>
            </a:endParaRPr>
          </a:p>
          <a:p>
            <a:pPr algn="just"/>
            <a:endParaRPr lang="en-US" dirty="0">
              <a:ea typeface="Calibri"/>
              <a:cs typeface="Calibri"/>
            </a:endParaRPr>
          </a:p>
          <a:p>
            <a:pPr algn="just"/>
            <a:endParaRPr lang="en-US" dirty="0">
              <a:ea typeface="Calibri"/>
              <a:cs typeface="Calibri"/>
            </a:endParaRPr>
          </a:p>
          <a:p>
            <a:pPr algn="just"/>
            <a:endParaRPr lang="en-US" dirty="0">
              <a:ea typeface="Calibri"/>
              <a:cs typeface="Calibri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dirty="0">
              <a:ea typeface="Calibri"/>
              <a:cs typeface="Calibri"/>
            </a:endParaRPr>
          </a:p>
          <a:p>
            <a:pPr algn="just">
              <a:lnSpc>
                <a:spcPct val="150000"/>
              </a:lnSpc>
            </a:pPr>
            <a:endParaRPr lang="en-US" dirty="0">
              <a:ea typeface="Calibri"/>
              <a:cs typeface="Calibri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dirty="0">
              <a:ea typeface="Calibri"/>
              <a:cs typeface="Calibri"/>
            </a:endParaRPr>
          </a:p>
          <a:p>
            <a:pPr algn="just">
              <a:lnSpc>
                <a:spcPct val="150000"/>
              </a:lnSpc>
            </a:pPr>
            <a:endParaRPr lang="en-US" dirty="0">
              <a:ea typeface="Calibri"/>
              <a:cs typeface="Calibri"/>
            </a:endParaRPr>
          </a:p>
          <a:p>
            <a:pPr algn="just">
              <a:lnSpc>
                <a:spcPct val="150000"/>
              </a:lnSpc>
            </a:pPr>
            <a:endParaRPr lang="en-US" dirty="0">
              <a:ea typeface="Calibri"/>
              <a:cs typeface="Calibri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dirty="0">
              <a:ea typeface="Calibri"/>
              <a:cs typeface="Calibri"/>
            </a:endParaRPr>
          </a:p>
          <a:p>
            <a:pPr algn="just">
              <a:lnSpc>
                <a:spcPct val="150000"/>
              </a:lnSpc>
            </a:pPr>
            <a:endParaRPr lang="en-US" dirty="0">
              <a:ea typeface="Calibri"/>
              <a:cs typeface="Calibri"/>
            </a:endParaRPr>
          </a:p>
          <a:p>
            <a:pPr marL="285750" indent="-285750" algn="just">
              <a:lnSpc>
                <a:spcPct val="150000"/>
              </a:lnSpc>
              <a:buChar char="-"/>
            </a:pPr>
            <a:endParaRPr lang="en-US" dirty="0">
              <a:ea typeface="Calibri"/>
              <a:cs typeface="Calibri"/>
            </a:endParaRPr>
          </a:p>
          <a:p>
            <a:pPr algn="just">
              <a:lnSpc>
                <a:spcPct val="150000"/>
              </a:lnSpc>
            </a:pPr>
            <a:endParaRPr lang="en-US" dirty="0">
              <a:ea typeface="Calibri"/>
              <a:cs typeface="Calibri"/>
            </a:endParaRPr>
          </a:p>
          <a:p>
            <a:pPr marL="285750" indent="-285750" algn="just">
              <a:lnSpc>
                <a:spcPct val="150000"/>
              </a:lnSpc>
              <a:buChar char="-"/>
            </a:pPr>
            <a:endParaRPr lang="en-US" dirty="0">
              <a:ea typeface="Calibri"/>
              <a:cs typeface="Calibri"/>
            </a:endParaRPr>
          </a:p>
          <a:p>
            <a:pPr algn="just">
              <a:lnSpc>
                <a:spcPct val="150000"/>
              </a:lnSpc>
            </a:pPr>
            <a:endParaRPr lang="en-US" dirty="0">
              <a:ea typeface="Calibri"/>
              <a:cs typeface="Calibri"/>
            </a:endParaRPr>
          </a:p>
          <a:p>
            <a:pPr algn="just">
              <a:lnSpc>
                <a:spcPct val="150000"/>
              </a:lnSpc>
            </a:pPr>
            <a:endParaRPr lang="en-US" dirty="0">
              <a:ea typeface="Calibri"/>
              <a:cs typeface="Calibri"/>
            </a:endParaRPr>
          </a:p>
          <a:p>
            <a:pPr algn="just">
              <a:lnSpc>
                <a:spcPct val="150000"/>
              </a:lnSpc>
            </a:pPr>
            <a:endParaRPr lang="en-US" dirty="0">
              <a:ea typeface="Calibri"/>
              <a:cs typeface="Calibri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ea typeface="Calibri"/>
              <a:cs typeface="Calibri"/>
            </a:endParaRPr>
          </a:p>
          <a:p>
            <a:pPr algn="just">
              <a:lnSpc>
                <a:spcPct val="150000"/>
              </a:lnSpc>
            </a:pPr>
            <a:endParaRPr lang="en-US" dirty="0">
              <a:ea typeface="Calibri"/>
              <a:cs typeface="Calibri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31974CD-0A61-43F6-88E5-7E56A8604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48" y="213317"/>
            <a:ext cx="1562100" cy="59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68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C617B5-EB32-4C41-86D8-52194A4DB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03F40-0936-4358-8FE0-F7D3E4B85C3C}" type="datetime1">
              <a:rPr lang="en-US" smtClean="0"/>
              <a:t>7/2/2025</a:t>
            </a:fld>
            <a:endParaRPr lang="en-US" dirty="0"/>
          </a:p>
        </p:txBody>
      </p:sp>
      <p:sp>
        <p:nvSpPr>
          <p:cNvPr id="43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www.zensar.com | © Zensar Technologies 2025</a:t>
            </a:r>
          </a:p>
        </p:txBody>
      </p:sp>
      <p:sp>
        <p:nvSpPr>
          <p:cNvPr id="41" name="Slide Number Placeholder 4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BA1-0C0F-2848-A6D5-D57D345543D1}" type="slidenum">
              <a:rPr lang="en-US" smtClean="0"/>
              <a:t>5</a:t>
            </a:fld>
            <a:endParaRPr lang="en-US" dirty="0"/>
          </a:p>
        </p:txBody>
      </p:sp>
      <p:sp>
        <p:nvSpPr>
          <p:cNvPr id="24" name="Title 4">
            <a:extLst>
              <a:ext uri="{FF2B5EF4-FFF2-40B4-BE49-F238E27FC236}">
                <a16:creationId xmlns:a16="http://schemas.microsoft.com/office/drawing/2014/main" id="{2D6E91CA-C4A8-40A8-BDD6-4960360A9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77" y="122057"/>
            <a:ext cx="10465003" cy="796826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Monthly Highlights EBS  – </a:t>
            </a:r>
            <a:r>
              <a:rPr lang="en-IN" sz="36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 Light"/>
              </a:rPr>
              <a:t>June </a:t>
            </a:r>
            <a:r>
              <a:rPr lang="en-IN" sz="36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2025			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1867C8-5124-4AA5-8754-66BF339E6728}"/>
              </a:ext>
            </a:extLst>
          </p:cNvPr>
          <p:cNvSpPr/>
          <p:nvPr/>
        </p:nvSpPr>
        <p:spPr>
          <a:xfrm>
            <a:off x="285036" y="1206746"/>
            <a:ext cx="11621928" cy="378885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/>
              <a:t>List of open Issues :</a:t>
            </a:r>
          </a:p>
          <a:p>
            <a:pPr algn="just">
              <a:lnSpc>
                <a:spcPct val="150000"/>
              </a:lnSpc>
            </a:pPr>
            <a:endParaRPr lang="en-US" b="1" dirty="0"/>
          </a:p>
          <a:p>
            <a:pPr algn="just">
              <a:lnSpc>
                <a:spcPct val="150000"/>
              </a:lnSpc>
            </a:pPr>
            <a:r>
              <a:rPr lang="en-US" dirty="0"/>
              <a:t>Alerts are not receiving to DL from OCI Prod – Non-prod server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b="1" dirty="0"/>
          </a:p>
          <a:p>
            <a:pPr algn="just">
              <a:lnSpc>
                <a:spcPct val="150000"/>
              </a:lnSpc>
            </a:pPr>
            <a:endParaRPr lang="en-US" b="1" dirty="0"/>
          </a:p>
          <a:p>
            <a:pPr algn="just">
              <a:lnSpc>
                <a:spcPct val="150000"/>
              </a:lnSpc>
            </a:pPr>
            <a:endParaRPr lang="en-US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ea typeface="Calibri"/>
              <a:cs typeface="Calibri"/>
            </a:endParaRPr>
          </a:p>
          <a:p>
            <a:pPr algn="just">
              <a:lnSpc>
                <a:spcPct val="150000"/>
              </a:lnSpc>
            </a:pPr>
            <a:endParaRPr lang="en-US" dirty="0"/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31974CD-0A61-43F6-88E5-7E56A8604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48" y="213317"/>
            <a:ext cx="1562100" cy="59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049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C617B5-EB32-4C41-86D8-52194A4DB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0245D-745B-490F-B54E-A3EACB0E67A0}" type="datetime1">
              <a:rPr lang="en-US" smtClean="0"/>
              <a:t>7/2/2025</a:t>
            </a:fld>
            <a:endParaRPr lang="en-US" dirty="0"/>
          </a:p>
        </p:txBody>
      </p:sp>
      <p:sp>
        <p:nvSpPr>
          <p:cNvPr id="43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www.zensar.com | © Zensar Technologies 2025</a:t>
            </a:r>
          </a:p>
        </p:txBody>
      </p:sp>
      <p:sp>
        <p:nvSpPr>
          <p:cNvPr id="41" name="Slide Number Placeholder 4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BA1-0C0F-2848-A6D5-D57D345543D1}" type="slidenum">
              <a:rPr lang="en-US" smtClean="0"/>
              <a:t>6</a:t>
            </a:fld>
            <a:endParaRPr lang="en-US" dirty="0"/>
          </a:p>
        </p:txBody>
      </p:sp>
      <p:sp>
        <p:nvSpPr>
          <p:cNvPr id="24" name="Title 4">
            <a:extLst>
              <a:ext uri="{FF2B5EF4-FFF2-40B4-BE49-F238E27FC236}">
                <a16:creationId xmlns:a16="http://schemas.microsoft.com/office/drawing/2014/main" id="{2D6E91CA-C4A8-40A8-BDD6-4960360A9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77" y="122057"/>
            <a:ext cx="10465003" cy="796826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Monthly Highlights EBS  – June 2025				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31974CD-0A61-43F6-88E5-7E56A8604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48" y="213317"/>
            <a:ext cx="1562100" cy="59055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A2A4AB3E-4C8F-EE03-DC13-D0AF5F672A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067" y="1702906"/>
            <a:ext cx="10467975" cy="4019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3465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C617B5-EB32-4C41-86D8-52194A4DB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E7DEF-6009-4676-8769-356858AE6ED0}" type="datetime1">
              <a:rPr lang="en-US" smtClean="0"/>
              <a:t>7/2/2025</a:t>
            </a:fld>
            <a:endParaRPr lang="en-US" dirty="0"/>
          </a:p>
        </p:txBody>
      </p:sp>
      <p:sp>
        <p:nvSpPr>
          <p:cNvPr id="43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www.zensar.com | © Zensar Technologies 2025</a:t>
            </a:r>
          </a:p>
        </p:txBody>
      </p:sp>
      <p:sp>
        <p:nvSpPr>
          <p:cNvPr id="41" name="Slide Number Placeholder 4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BA1-0C0F-2848-A6D5-D57D345543D1}" type="slidenum">
              <a:rPr lang="en-US" smtClean="0"/>
              <a:t>7</a:t>
            </a:fld>
            <a:endParaRPr lang="en-US" dirty="0"/>
          </a:p>
        </p:txBody>
      </p:sp>
      <p:sp>
        <p:nvSpPr>
          <p:cNvPr id="24" name="Title 4">
            <a:extLst>
              <a:ext uri="{FF2B5EF4-FFF2-40B4-BE49-F238E27FC236}">
                <a16:creationId xmlns:a16="http://schemas.microsoft.com/office/drawing/2014/main" id="{2D6E91CA-C4A8-40A8-BDD6-4960360A9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77" y="122057"/>
            <a:ext cx="10465003" cy="796826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Monthly Highlights EBS  – </a:t>
            </a:r>
            <a:r>
              <a:rPr lang="en-IN" sz="36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 Light"/>
              </a:rPr>
              <a:t>June </a:t>
            </a:r>
            <a:r>
              <a:rPr lang="en-IN" sz="36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-2025			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1867C8-5124-4AA5-8754-66BF339E6728}"/>
              </a:ext>
            </a:extLst>
          </p:cNvPr>
          <p:cNvSpPr/>
          <p:nvPr/>
        </p:nvSpPr>
        <p:spPr>
          <a:xfrm>
            <a:off x="285036" y="1206746"/>
            <a:ext cx="11621928" cy="129586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/>
              <a:t>Monthly Cloud Billing : June 2025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31974CD-0A61-43F6-88E5-7E56A8604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48" y="213317"/>
            <a:ext cx="1562100" cy="59055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49D67805-CBAF-B53C-C059-046312E407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557" y="2412287"/>
            <a:ext cx="10458450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1724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7140F3-FD6C-45A8-AD64-025A41957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27A0A-DB1E-4CBD-94DD-0C0E99375FB6}" type="datetime1">
              <a:rPr lang="en-US" smtClean="0"/>
              <a:t>7/2/2025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DF8BCC-17FA-48E9-B5A6-FF3704843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www.zensar.com | © Zensar Technologies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EB9652-85CA-4718-A011-03EF1136F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6ED64-E086-8F49-8C8D-88791C756DA0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8F3BC7A-93D7-4A71-9270-9C29041C6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Summary - Task Analysis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27CB73-5146-4B73-98CB-36EEDD5AEA8F}"/>
              </a:ext>
            </a:extLst>
          </p:cNvPr>
          <p:cNvSpPr/>
          <p:nvPr/>
        </p:nvSpPr>
        <p:spPr>
          <a:xfrm>
            <a:off x="146331" y="1038445"/>
            <a:ext cx="11904642" cy="5468033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defTabSz="914412"/>
            <a:endParaRPr lang="en-US" sz="2400" dirty="0">
              <a:solidFill>
                <a:prstClr val="white"/>
              </a:solidFill>
            </a:endParaRPr>
          </a:p>
          <a:p>
            <a:pPr defTabSz="914412"/>
            <a:endParaRPr lang="en-US" sz="2400" dirty="0">
              <a:solidFill>
                <a:prstClr val="white"/>
              </a:solidFill>
            </a:endParaRPr>
          </a:p>
          <a:p>
            <a:pPr defTabSz="914412"/>
            <a:endParaRPr lang="en-US" sz="2400" dirty="0">
              <a:solidFill>
                <a:prstClr val="white"/>
              </a:solidFill>
            </a:endParaRPr>
          </a:p>
          <a:p>
            <a:pPr defTabSz="914412"/>
            <a:endParaRPr lang="en-US" sz="2400" dirty="0">
              <a:solidFill>
                <a:prstClr val="white"/>
              </a:solidFill>
            </a:endParaRPr>
          </a:p>
          <a:p>
            <a:pPr defTabSz="914412"/>
            <a:endParaRPr lang="en-US" sz="2400" dirty="0">
              <a:solidFill>
                <a:prstClr val="white"/>
              </a:solidFill>
            </a:endParaRPr>
          </a:p>
          <a:p>
            <a:pPr defTabSz="914412"/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FF91C02-1313-4ABE-A871-0BEE575CB57A}"/>
              </a:ext>
            </a:extLst>
          </p:cNvPr>
          <p:cNvSpPr/>
          <p:nvPr/>
        </p:nvSpPr>
        <p:spPr>
          <a:xfrm>
            <a:off x="6216300" y="4601240"/>
            <a:ext cx="5829369" cy="3768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Zensar team successfully closed and concluded  running tasks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0DCA636-375E-4BC9-8FE0-ED61801D0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48" y="213317"/>
            <a:ext cx="1562100" cy="590550"/>
          </a:xfrm>
          <a:prstGeom prst="rect">
            <a:avLst/>
          </a:prstGeom>
        </p:spPr>
      </p:pic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2447C58B-136F-2EF9-963D-B269F705E31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68171574"/>
              </p:ext>
            </p:extLst>
          </p:nvPr>
        </p:nvGraphicFramePr>
        <p:xfrm>
          <a:off x="387613" y="4014530"/>
          <a:ext cx="5306605" cy="2371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01ECC3B5-C8D1-7CC4-7980-C2A2DE74BF0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6107855"/>
              </p:ext>
            </p:extLst>
          </p:nvPr>
        </p:nvGraphicFramePr>
        <p:xfrm>
          <a:off x="5896085" y="1141584"/>
          <a:ext cx="5908302" cy="25995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4E62F909-80A6-0655-DC30-9FF21CB9F2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52666328"/>
              </p:ext>
            </p:extLst>
          </p:nvPr>
        </p:nvGraphicFramePr>
        <p:xfrm>
          <a:off x="290630" y="1141583"/>
          <a:ext cx="5403588" cy="25995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863467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C617B5-EB32-4C41-86D8-52194A4DB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00CDF-62F6-4F85-9E17-CCFCF2B386C6}" type="datetime1">
              <a:rPr lang="en-US" smtClean="0"/>
              <a:t>7/2/2025</a:t>
            </a:fld>
            <a:endParaRPr lang="en-US" dirty="0"/>
          </a:p>
        </p:txBody>
      </p:sp>
      <p:sp>
        <p:nvSpPr>
          <p:cNvPr id="43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www.zensar.com | © Zensar Technologies 2025</a:t>
            </a:r>
          </a:p>
        </p:txBody>
      </p:sp>
      <p:sp>
        <p:nvSpPr>
          <p:cNvPr id="41" name="Slide Number Placeholder 4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BA1-0C0F-2848-A6D5-D57D345543D1}" type="slidenum">
              <a:rPr lang="en-US" smtClean="0"/>
              <a:t>9</a:t>
            </a:fld>
            <a:endParaRPr lang="en-US" dirty="0"/>
          </a:p>
        </p:txBody>
      </p:sp>
      <p:sp>
        <p:nvSpPr>
          <p:cNvPr id="12" name="Title 4"/>
          <p:cNvSpPr>
            <a:spLocks noGrp="1"/>
          </p:cNvSpPr>
          <p:nvPr>
            <p:ph type="title"/>
          </p:nvPr>
        </p:nvSpPr>
        <p:spPr>
          <a:xfrm>
            <a:off x="115911" y="110179"/>
            <a:ext cx="10290832" cy="693688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Upcoming EBS Activities – Next Month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3239672-DA07-4DED-BABE-623BB369EC21}"/>
              </a:ext>
            </a:extLst>
          </p:cNvPr>
          <p:cNvGrpSpPr/>
          <p:nvPr/>
        </p:nvGrpSpPr>
        <p:grpSpPr>
          <a:xfrm>
            <a:off x="115910" y="891822"/>
            <a:ext cx="11974489" cy="5605890"/>
            <a:chOff x="129534" y="1015752"/>
            <a:chExt cx="11865574" cy="2159936"/>
          </a:xfrm>
        </p:grpSpPr>
        <p:sp>
          <p:nvSpPr>
            <p:cNvPr id="15" name="Content Placeholder 2">
              <a:extLst>
                <a:ext uri="{FF2B5EF4-FFF2-40B4-BE49-F238E27FC236}">
                  <a16:creationId xmlns:a16="http://schemas.microsoft.com/office/drawing/2014/main" id="{133A62AF-8AEF-4179-B551-762FF97E898C}"/>
                </a:ext>
              </a:extLst>
            </p:cNvPr>
            <p:cNvSpPr txBox="1">
              <a:spLocks/>
            </p:cNvSpPr>
            <p:nvPr/>
          </p:nvSpPr>
          <p:spPr>
            <a:xfrm>
              <a:off x="285483" y="1070163"/>
              <a:ext cx="5520248" cy="137736"/>
            </a:xfrm>
            <a:prstGeom prst="rect">
              <a:avLst/>
            </a:prstGeom>
          </p:spPr>
          <p:txBody>
            <a:bodyPr lIns="91440" tIns="45720" rIns="91440" bIns="4572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800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Planned Key Activities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BFE8F22-ECEB-4479-AE80-0D6755CA843D}"/>
                </a:ext>
              </a:extLst>
            </p:cNvPr>
            <p:cNvSpPr/>
            <p:nvPr/>
          </p:nvSpPr>
          <p:spPr>
            <a:xfrm>
              <a:off x="129534" y="1015752"/>
              <a:ext cx="11865574" cy="2159936"/>
            </a:xfrm>
            <a:prstGeom prst="rect">
              <a:avLst/>
            </a:prstGeom>
            <a:noFill/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defTabSz="914412"/>
              <a:endParaRPr lang="en-US" sz="2800" dirty="0">
                <a:solidFill>
                  <a:prstClr val="white"/>
                </a:solidFill>
              </a:endParaRPr>
            </a:p>
            <a:p>
              <a:pPr defTabSz="914412"/>
              <a:endParaRPr lang="en-US" sz="2800" dirty="0">
                <a:solidFill>
                  <a:prstClr val="white"/>
                </a:solidFill>
              </a:endParaRPr>
            </a:p>
            <a:p>
              <a:pPr defTabSz="914412"/>
              <a:endParaRPr lang="en-US" sz="2800" dirty="0">
                <a:solidFill>
                  <a:prstClr val="white"/>
                </a:solidFill>
              </a:endParaRPr>
            </a:p>
            <a:p>
              <a:pPr defTabSz="914412"/>
              <a:endParaRPr lang="en-US" sz="2800" dirty="0">
                <a:solidFill>
                  <a:prstClr val="white"/>
                </a:solidFill>
              </a:endParaRPr>
            </a:p>
            <a:p>
              <a:pPr defTabSz="914412"/>
              <a:endParaRPr lang="en-US" sz="2800" dirty="0">
                <a:solidFill>
                  <a:prstClr val="white"/>
                </a:solidFill>
              </a:endParaRPr>
            </a:p>
            <a:p>
              <a:pPr defTabSz="914412"/>
              <a:endParaRPr lang="en-US" sz="2800" dirty="0">
                <a:solidFill>
                  <a:prstClr val="white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57BFE16-2435-4750-9CF8-FC0A4BDB2D72}"/>
                </a:ext>
              </a:extLst>
            </p:cNvPr>
            <p:cNvSpPr txBox="1"/>
            <p:nvPr/>
          </p:nvSpPr>
          <p:spPr>
            <a:xfrm>
              <a:off x="336784" y="1277450"/>
              <a:ext cx="11451073" cy="1459838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285750" indent="-285750" algn="just" fontAlgn="base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ea typeface="Calibri"/>
                  <a:cs typeface="Calibri"/>
                </a:rPr>
                <a:t>11i DB - 19c cloud migration</a:t>
              </a:r>
            </a:p>
            <a:p>
              <a:pPr marL="285750" indent="-285750" algn="just">
                <a:lnSpc>
                  <a:spcPct val="150000"/>
                </a:lnSpc>
                <a:buFont typeface="Arial,Sans-Serif" panose="020B0604020202020204" pitchFamily="34" charset="0"/>
                <a:buChar char="•"/>
              </a:pPr>
              <a:r>
                <a:rPr lang="en-US" dirty="0">
                  <a:latin typeface="Calibri"/>
                  <a:ea typeface="Calibri"/>
                  <a:cs typeface="Calibri"/>
                </a:rPr>
                <a:t>ECC Configuration on DEV/UAT.</a:t>
              </a:r>
            </a:p>
            <a:p>
              <a:pPr marL="285750" indent="-285750" algn="just">
                <a:lnSpc>
                  <a:spcPct val="150000"/>
                </a:lnSpc>
                <a:buFont typeface="Arial,Sans-Serif" panose="020B0604020202020204" pitchFamily="34" charset="0"/>
                <a:buChar char="•"/>
              </a:pPr>
              <a:r>
                <a:rPr lang="en-US" dirty="0">
                  <a:latin typeface="Calibri"/>
                  <a:ea typeface="Calibri"/>
                  <a:cs typeface="Calibri"/>
                </a:rPr>
                <a:t>Oracle Application upgradation from R12.2.10 to R12.2.14</a:t>
              </a:r>
            </a:p>
            <a:p>
              <a:pPr marL="285750" indent="-285750" algn="just">
                <a:lnSpc>
                  <a:spcPct val="150000"/>
                </a:lnSpc>
                <a:buFont typeface="Arial,Sans-Serif" panose="020B0604020202020204" pitchFamily="34" charset="0"/>
                <a:buChar char="•"/>
              </a:pPr>
              <a:r>
                <a:rPr lang="en-US" dirty="0">
                  <a:latin typeface="Times New Roman"/>
                  <a:ea typeface="Calibri"/>
                  <a:cs typeface="Times New Roman"/>
                </a:rPr>
                <a:t>SSL implementation for SSO Setup</a:t>
              </a:r>
              <a:endParaRPr lang="en-US" dirty="0">
                <a:ea typeface="Calibri"/>
                <a:cs typeface="Times New Roman"/>
              </a:endParaRPr>
            </a:p>
            <a:p>
              <a:pPr algn="just">
                <a:lnSpc>
                  <a:spcPct val="150000"/>
                </a:lnSpc>
              </a:pPr>
              <a:endParaRPr lang="en-US" dirty="0">
                <a:latin typeface="Calibri"/>
                <a:ea typeface="Calibri"/>
                <a:cs typeface="Calibri"/>
              </a:endParaRPr>
            </a:p>
            <a:p>
              <a:pPr marL="285750" indent="-285750" algn="just">
                <a:lnSpc>
                  <a:spcPct val="150000"/>
                </a:lnSpc>
                <a:buFont typeface="Arial,Sans-Serif" panose="020B0604020202020204" pitchFamily="34" charset="0"/>
                <a:buChar char="•"/>
              </a:pPr>
              <a:endParaRPr lang="en-US" dirty="0">
                <a:latin typeface="Calibri"/>
                <a:ea typeface="Calibri"/>
                <a:cs typeface="Calibri"/>
              </a:endParaRPr>
            </a:p>
            <a:p>
              <a:pPr marL="285750" indent="-28575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dirty="0">
                <a:latin typeface="Times New Roman"/>
                <a:ea typeface="Calibri"/>
                <a:cs typeface="Times New Roman"/>
              </a:endParaRPr>
            </a:p>
            <a:p>
              <a:pPr marL="285750" indent="-28575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dirty="0">
                <a:latin typeface="Times New Roman"/>
                <a:ea typeface="Calibri"/>
                <a:cs typeface="Times New Roman"/>
              </a:endParaRPr>
            </a:p>
            <a:p>
              <a:pPr algn="just" fontAlgn="base">
                <a:lnSpc>
                  <a:spcPct val="150000"/>
                </a:lnSpc>
              </a:pPr>
              <a:endParaRPr lang="en-US" dirty="0">
                <a:ea typeface="Calibri"/>
                <a:cs typeface="Times New Roman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91486AD-B344-477A-8295-C31BBAC6F78E}"/>
                </a:ext>
              </a:extLst>
            </p:cNvPr>
            <p:cNvSpPr/>
            <p:nvPr/>
          </p:nvSpPr>
          <p:spPr>
            <a:xfrm>
              <a:off x="196892" y="1058920"/>
              <a:ext cx="88591" cy="175362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defTabSz="914412"/>
              <a:endParaRPr lang="en-US" sz="2800" dirty="0">
                <a:solidFill>
                  <a:prstClr val="white"/>
                </a:solidFill>
              </a:endParaRP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92FBC5CC-F3C5-4EDF-A326-FFAF1468F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48" y="213317"/>
            <a:ext cx="1562100" cy="59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604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C617B5-EB32-4C41-86D8-52194A4DB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90735-866A-4F0A-98FC-9519C852B1D3}" type="datetime1">
              <a:rPr lang="en-US" smtClean="0"/>
              <a:t>7/2/2025</a:t>
            </a:fld>
            <a:endParaRPr lang="en-US" dirty="0"/>
          </a:p>
        </p:txBody>
      </p:sp>
      <p:sp>
        <p:nvSpPr>
          <p:cNvPr id="43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www.zensar.com | © Zensar Technologies 2025</a:t>
            </a:r>
          </a:p>
        </p:txBody>
      </p:sp>
      <p:sp>
        <p:nvSpPr>
          <p:cNvPr id="41" name="Slide Number Placeholder 4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BA1-0C0F-2848-A6D5-D57D345543D1}" type="slidenum">
              <a:rPr lang="en-US" smtClean="0"/>
              <a:t>10</a:t>
            </a:fld>
            <a:endParaRPr lang="en-US" dirty="0"/>
          </a:p>
        </p:txBody>
      </p:sp>
      <p:sp>
        <p:nvSpPr>
          <p:cNvPr id="24" name="Title 4">
            <a:extLst>
              <a:ext uri="{FF2B5EF4-FFF2-40B4-BE49-F238E27FC236}">
                <a16:creationId xmlns:a16="http://schemas.microsoft.com/office/drawing/2014/main" id="{9125EA5D-0CF8-4AC3-A112-7FD58B8A3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910" y="110179"/>
            <a:ext cx="10465003" cy="796826"/>
          </a:xfrm>
        </p:spPr>
        <p:txBody>
          <a:bodyPr>
            <a:noAutofit/>
          </a:bodyPr>
          <a:lstStyle/>
          <a:p>
            <a:r>
              <a:rPr lang="en-IN" sz="36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Highlights SQL Server – </a:t>
            </a:r>
            <a:r>
              <a:rPr lang="en-IN" sz="36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 Light"/>
              </a:rPr>
              <a:t>June</a:t>
            </a:r>
            <a:r>
              <a:rPr lang="en-IN" sz="36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2025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3239672-DA07-4DED-BABE-623BB369EC21}"/>
              </a:ext>
            </a:extLst>
          </p:cNvPr>
          <p:cNvGrpSpPr/>
          <p:nvPr/>
        </p:nvGrpSpPr>
        <p:grpSpPr>
          <a:xfrm>
            <a:off x="199328" y="1142046"/>
            <a:ext cx="11689659" cy="5364433"/>
            <a:chOff x="129534" y="1015752"/>
            <a:chExt cx="11865574" cy="2339205"/>
          </a:xfrm>
        </p:grpSpPr>
        <p:sp>
          <p:nvSpPr>
            <p:cNvPr id="15" name="Content Placeholder 2">
              <a:extLst>
                <a:ext uri="{FF2B5EF4-FFF2-40B4-BE49-F238E27FC236}">
                  <a16:creationId xmlns:a16="http://schemas.microsoft.com/office/drawing/2014/main" id="{133A62AF-8AEF-4179-B551-762FF97E898C}"/>
                </a:ext>
              </a:extLst>
            </p:cNvPr>
            <p:cNvSpPr txBox="1">
              <a:spLocks/>
            </p:cNvSpPr>
            <p:nvPr/>
          </p:nvSpPr>
          <p:spPr>
            <a:xfrm>
              <a:off x="312385" y="1047250"/>
              <a:ext cx="5639461" cy="210065"/>
            </a:xfrm>
            <a:prstGeom prst="rect">
              <a:avLst/>
            </a:prstGeom>
          </p:spPr>
          <p:txBody>
            <a:bodyPr lIns="91440" tIns="45720" rIns="91440" bIns="4572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800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Essential Activities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BFE8F22-ECEB-4479-AE80-0D6755CA843D}"/>
                </a:ext>
              </a:extLst>
            </p:cNvPr>
            <p:cNvSpPr/>
            <p:nvPr/>
          </p:nvSpPr>
          <p:spPr>
            <a:xfrm>
              <a:off x="129534" y="1015752"/>
              <a:ext cx="11865574" cy="2339205"/>
            </a:xfrm>
            <a:prstGeom prst="rect">
              <a:avLst/>
            </a:prstGeom>
            <a:noFill/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defTabSz="914412"/>
              <a:endParaRPr lang="en-US" sz="2800" dirty="0">
                <a:solidFill>
                  <a:prstClr val="white"/>
                </a:solidFill>
              </a:endParaRPr>
            </a:p>
            <a:p>
              <a:pPr defTabSz="914412"/>
              <a:endParaRPr lang="en-US" sz="2800" dirty="0">
                <a:solidFill>
                  <a:prstClr val="white"/>
                </a:solidFill>
              </a:endParaRPr>
            </a:p>
            <a:p>
              <a:pPr defTabSz="914412"/>
              <a:endParaRPr lang="en-US" sz="2800" dirty="0">
                <a:solidFill>
                  <a:prstClr val="white"/>
                </a:solidFill>
              </a:endParaRPr>
            </a:p>
            <a:p>
              <a:pPr defTabSz="914412"/>
              <a:endParaRPr lang="en-US" sz="2800" dirty="0">
                <a:solidFill>
                  <a:prstClr val="white"/>
                </a:solidFill>
              </a:endParaRPr>
            </a:p>
            <a:p>
              <a:pPr defTabSz="914412"/>
              <a:endParaRPr lang="en-US" sz="2800" dirty="0">
                <a:solidFill>
                  <a:prstClr val="white"/>
                </a:solidFill>
              </a:endParaRPr>
            </a:p>
            <a:p>
              <a:pPr defTabSz="914412"/>
              <a:endParaRPr lang="en-US" sz="2800" dirty="0">
                <a:solidFill>
                  <a:prstClr val="white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57BFE16-2435-4750-9CF8-FC0A4BDB2D72}"/>
                </a:ext>
              </a:extLst>
            </p:cNvPr>
            <p:cNvSpPr txBox="1"/>
            <p:nvPr/>
          </p:nvSpPr>
          <p:spPr>
            <a:xfrm>
              <a:off x="223589" y="1359806"/>
              <a:ext cx="11663611" cy="338554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marL="285750" indent="-285750" algn="just" defTabSz="914412">
                <a:buFont typeface="Arial" panose="020B0604020202020204" pitchFamily="34" charset="0"/>
                <a:buChar char="•"/>
              </a:pPr>
              <a:endParaRPr lang="en-US" sz="1600" dirty="0">
                <a:solidFill>
                  <a:prstClr val="black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91486AD-B344-477A-8295-C31BBAC6F78E}"/>
                </a:ext>
              </a:extLst>
            </p:cNvPr>
            <p:cNvSpPr/>
            <p:nvPr/>
          </p:nvSpPr>
          <p:spPr>
            <a:xfrm>
              <a:off x="196892" y="1053903"/>
              <a:ext cx="88592" cy="170092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defTabSz="914412"/>
              <a:endParaRPr lang="en-US" sz="2800" dirty="0">
                <a:solidFill>
                  <a:prstClr val="white"/>
                </a:solidFill>
              </a:endParaRP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CE595220-8478-49AF-B221-4667E2E379CE}"/>
              </a:ext>
            </a:extLst>
          </p:cNvPr>
          <p:cNvSpPr/>
          <p:nvPr/>
        </p:nvSpPr>
        <p:spPr>
          <a:xfrm>
            <a:off x="379468" y="1706167"/>
            <a:ext cx="11245521" cy="54508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</a:rPr>
              <a:t>Zensar </a:t>
            </a:r>
            <a:r>
              <a:rPr lang="en-US" dirty="0">
                <a:cs typeface="Times New Roman" panose="02020603050405020304" pitchFamily="18" charset="0"/>
              </a:rPr>
              <a:t>Team</a:t>
            </a:r>
            <a:r>
              <a:rPr lang="en-US" dirty="0">
                <a:solidFill>
                  <a:prstClr val="black"/>
                </a:solidFill>
              </a:rPr>
              <a:t> have removed unwanted temp table from Salesforce databases which was created after reran jobs.</a:t>
            </a:r>
          </a:p>
          <a:p>
            <a:pPr marL="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Taking care of </a:t>
            </a:r>
            <a:r>
              <a:rPr lang="en-US" dirty="0">
                <a:solidFill>
                  <a:prstClr val="black"/>
                </a:solidFill>
                <a:cs typeface="Times New Roman" panose="02020603050405020304" pitchFamily="18" charset="0"/>
              </a:rPr>
              <a:t>w</a:t>
            </a:r>
            <a:r>
              <a:rPr lang="en-US" dirty="0">
                <a:solidFill>
                  <a:prstClr val="black"/>
                </a:solidFill>
              </a:rPr>
              <a:t>eekly maintenance for DEV , Production and reporting environments.</a:t>
            </a:r>
          </a:p>
          <a:p>
            <a:pPr marL="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Monitoring &amp; Troubleshooting failed SSIS packages</a:t>
            </a:r>
            <a:r>
              <a:rPr lang="en-US" dirty="0">
                <a:solidFill>
                  <a:prstClr val="black"/>
                </a:solidFill>
              </a:rPr>
              <a:t>. </a:t>
            </a:r>
          </a:p>
          <a:p>
            <a:pPr marL="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Restore table on PROD01 server with recent backup to resolve table Data mismatch issue.</a:t>
            </a:r>
            <a:endParaRPr lang="en-US" dirty="0">
              <a:cs typeface="Times New Roman" panose="02020603050405020304" pitchFamily="18" charset="0"/>
            </a:endParaRPr>
          </a:p>
          <a:p>
            <a:pPr marL="2857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Zensar Team has worked on Database and Table Growth Report for May’25 and shared with OMNI team. </a:t>
            </a:r>
          </a:p>
          <a:p>
            <a:pPr marL="2857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Monitoring &amp; Troubleshooting Subscription failures.</a:t>
            </a:r>
          </a:p>
          <a:p>
            <a:pPr marL="2857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</a:rPr>
              <a:t>Team have deployed </a:t>
            </a:r>
            <a:r>
              <a:rPr lang="en-US" dirty="0">
                <a:latin typeface="Calibri" panose="020F0502020204030204" pitchFamily="34" charset="0"/>
              </a:rPr>
              <a:t>Power BI </a:t>
            </a:r>
            <a:r>
              <a:rPr lang="en-US" dirty="0">
                <a:solidFill>
                  <a:prstClr val="black"/>
                </a:solidFill>
              </a:rPr>
              <a:t>health check dashboard.</a:t>
            </a:r>
          </a:p>
          <a:p>
            <a:pPr marL="2857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</a:rPr>
              <a:t>OMNI Team provided new Opera Cloud KT to Zensar Team and Zensar Team also shared understanding documents.</a:t>
            </a:r>
          </a:p>
          <a:p>
            <a:pPr marL="0" lvl="1" algn="just">
              <a:lnSpc>
                <a:spcPct val="150000"/>
              </a:lnSpc>
            </a:pPr>
            <a:endParaRPr lang="en-US" dirty="0">
              <a:solidFill>
                <a:prstClr val="black"/>
              </a:solidFill>
            </a:endParaRPr>
          </a:p>
          <a:p>
            <a:pPr marL="2857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prstClr val="black"/>
              </a:solidFill>
            </a:endParaRPr>
          </a:p>
          <a:p>
            <a:pPr marL="2857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prstClr val="black"/>
              </a:solidFill>
            </a:endParaRPr>
          </a:p>
          <a:p>
            <a:pPr marL="2857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</a:pPr>
            <a:endParaRPr lang="en-US" dirty="0"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8870F12-4F9B-4EB8-9F58-EB034B8C8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48" y="213317"/>
            <a:ext cx="1562100" cy="59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223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7140F3-FD6C-45A8-AD64-025A41957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99D2D-859C-4E30-979F-24990F85EBC6}" type="datetime1">
              <a:rPr lang="en-US" smtClean="0"/>
              <a:t>7/2/2025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DF8BCC-17FA-48E9-B5A6-FF3704843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www.zensar.com | </a:t>
            </a:r>
            <a:r>
              <a:rPr lang="de-DE" dirty="0"/>
              <a:t>© </a:t>
            </a:r>
            <a:r>
              <a:rPr lang="en-US" dirty="0"/>
              <a:t>Zensar Technologies 2025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EB9652-85CA-4718-A011-03EF1136F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6ED64-E086-8F49-8C8D-88791C756DA0}" type="slidenum">
              <a:rPr lang="en-US" smtClean="0"/>
              <a:t>11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8F3BC7A-93D7-4A71-9270-9C29041C6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911" y="110179"/>
            <a:ext cx="6217155" cy="796826"/>
          </a:xfrm>
        </p:spPr>
        <p:txBody>
          <a:bodyPr>
            <a:normAutofit fontScale="90000"/>
          </a:bodyPr>
          <a:lstStyle/>
          <a:p>
            <a:r>
              <a:rPr lang="en-US" sz="32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Summary - Task Analysis MS SQL Server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27CB73-5146-4B73-98CB-36EEDD5AEA8F}"/>
              </a:ext>
            </a:extLst>
          </p:cNvPr>
          <p:cNvSpPr/>
          <p:nvPr/>
        </p:nvSpPr>
        <p:spPr>
          <a:xfrm>
            <a:off x="146331" y="1038445"/>
            <a:ext cx="11904642" cy="5468033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defTabSz="914412"/>
            <a:endParaRPr lang="en-US" sz="2400" dirty="0">
              <a:solidFill>
                <a:prstClr val="white"/>
              </a:solidFill>
            </a:endParaRPr>
          </a:p>
          <a:p>
            <a:pPr defTabSz="914412"/>
            <a:endParaRPr lang="en-US" sz="2400" dirty="0">
              <a:solidFill>
                <a:prstClr val="white"/>
              </a:solidFill>
            </a:endParaRPr>
          </a:p>
          <a:p>
            <a:pPr defTabSz="914412"/>
            <a:endParaRPr lang="en-US" sz="2400" dirty="0">
              <a:solidFill>
                <a:prstClr val="white"/>
              </a:solidFill>
            </a:endParaRPr>
          </a:p>
          <a:p>
            <a:pPr defTabSz="914412"/>
            <a:endParaRPr lang="en-US" sz="2400" dirty="0">
              <a:solidFill>
                <a:prstClr val="white"/>
              </a:solidFill>
            </a:endParaRPr>
          </a:p>
          <a:p>
            <a:pPr defTabSz="914412"/>
            <a:endParaRPr lang="en-US" sz="2400" dirty="0">
              <a:solidFill>
                <a:prstClr val="white"/>
              </a:solidFill>
            </a:endParaRPr>
          </a:p>
          <a:p>
            <a:pPr defTabSz="914412"/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FF91C02-1313-4ABE-A871-0BEE575CB57A}"/>
              </a:ext>
            </a:extLst>
          </p:cNvPr>
          <p:cNvSpPr/>
          <p:nvPr/>
        </p:nvSpPr>
        <p:spPr>
          <a:xfrm>
            <a:off x="6216300" y="4694372"/>
            <a:ext cx="5829369" cy="3768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Zensar team successfully closed and concluded  running tasks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0DCA636-375E-4BC9-8FE0-ED61801D0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48" y="213317"/>
            <a:ext cx="1562100" cy="590550"/>
          </a:xfrm>
          <a:prstGeom prst="rect">
            <a:avLst/>
          </a:prstGeom>
        </p:spPr>
      </p:pic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33497435-3E32-4514-82C6-CB58DEBB981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92520054"/>
              </p:ext>
            </p:extLst>
          </p:nvPr>
        </p:nvGraphicFramePr>
        <p:xfrm>
          <a:off x="159808" y="1038443"/>
          <a:ext cx="5722832" cy="26277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33FD8C97-109B-C1FB-8BF7-DBCBADBE7D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6116" y="1038443"/>
            <a:ext cx="5930411" cy="26277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51C237-9486-8D05-251C-EDD66CE9CB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098" y="3797642"/>
            <a:ext cx="5682251" cy="227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045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C617B5-EB32-4C41-86D8-52194A4DB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90735-866A-4F0A-98FC-9519C852B1D3}" type="datetime1">
              <a:rPr lang="en-US" smtClean="0"/>
              <a:t>7/2/2025</a:t>
            </a:fld>
            <a:endParaRPr lang="en-US" dirty="0"/>
          </a:p>
        </p:txBody>
      </p:sp>
      <p:sp>
        <p:nvSpPr>
          <p:cNvPr id="43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www.zensar.com | © Zensar Technologies 2025 </a:t>
            </a:r>
          </a:p>
        </p:txBody>
      </p:sp>
      <p:sp>
        <p:nvSpPr>
          <p:cNvPr id="41" name="Slide Number Placeholder 4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BA1-0C0F-2848-A6D5-D57D345543D1}" type="slidenum">
              <a:rPr lang="en-US" smtClean="0"/>
              <a:t>12</a:t>
            </a:fld>
            <a:endParaRPr lang="en-US" dirty="0"/>
          </a:p>
        </p:txBody>
      </p:sp>
      <p:sp>
        <p:nvSpPr>
          <p:cNvPr id="12" name="Title 4"/>
          <p:cNvSpPr>
            <a:spLocks noGrp="1"/>
          </p:cNvSpPr>
          <p:nvPr>
            <p:ph type="title"/>
          </p:nvPr>
        </p:nvSpPr>
        <p:spPr>
          <a:xfrm>
            <a:off x="115911" y="110179"/>
            <a:ext cx="10290832" cy="693688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Upcoming MSSQL Activities – Next Month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3239672-DA07-4DED-BABE-623BB369EC21}"/>
              </a:ext>
            </a:extLst>
          </p:cNvPr>
          <p:cNvGrpSpPr/>
          <p:nvPr/>
        </p:nvGrpSpPr>
        <p:grpSpPr>
          <a:xfrm>
            <a:off x="612621" y="1366966"/>
            <a:ext cx="11522227" cy="5517332"/>
            <a:chOff x="129534" y="1015752"/>
            <a:chExt cx="11865574" cy="2159936"/>
          </a:xfrm>
        </p:grpSpPr>
        <p:sp>
          <p:nvSpPr>
            <p:cNvPr id="15" name="Content Placeholder 2">
              <a:extLst>
                <a:ext uri="{FF2B5EF4-FFF2-40B4-BE49-F238E27FC236}">
                  <a16:creationId xmlns:a16="http://schemas.microsoft.com/office/drawing/2014/main" id="{133A62AF-8AEF-4179-B551-762FF97E898C}"/>
                </a:ext>
              </a:extLst>
            </p:cNvPr>
            <p:cNvSpPr txBox="1">
              <a:spLocks/>
            </p:cNvSpPr>
            <p:nvPr/>
          </p:nvSpPr>
          <p:spPr>
            <a:xfrm>
              <a:off x="285483" y="1070163"/>
              <a:ext cx="5520248" cy="137736"/>
            </a:xfrm>
            <a:prstGeom prst="rect">
              <a:avLst/>
            </a:prstGeom>
          </p:spPr>
          <p:txBody>
            <a:bodyPr lIns="91440" tIns="45720" rIns="91440" bIns="4572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800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Planned Key Activities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BFE8F22-ECEB-4479-AE80-0D6755CA843D}"/>
                </a:ext>
              </a:extLst>
            </p:cNvPr>
            <p:cNvSpPr/>
            <p:nvPr/>
          </p:nvSpPr>
          <p:spPr>
            <a:xfrm>
              <a:off x="129534" y="1015752"/>
              <a:ext cx="11865574" cy="2159936"/>
            </a:xfrm>
            <a:prstGeom prst="rect">
              <a:avLst/>
            </a:prstGeom>
            <a:noFill/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defTabSz="914412"/>
              <a:endParaRPr lang="en-US" sz="2800" dirty="0">
                <a:solidFill>
                  <a:prstClr val="white"/>
                </a:solidFill>
              </a:endParaRPr>
            </a:p>
            <a:p>
              <a:pPr defTabSz="914412"/>
              <a:endParaRPr lang="en-US" sz="2800" dirty="0">
                <a:solidFill>
                  <a:prstClr val="white"/>
                </a:solidFill>
              </a:endParaRPr>
            </a:p>
            <a:p>
              <a:pPr defTabSz="914412"/>
              <a:endParaRPr lang="en-US" sz="2800" dirty="0">
                <a:solidFill>
                  <a:prstClr val="white"/>
                </a:solidFill>
              </a:endParaRPr>
            </a:p>
            <a:p>
              <a:pPr defTabSz="914412"/>
              <a:endParaRPr lang="en-US" sz="2800" dirty="0">
                <a:solidFill>
                  <a:prstClr val="white"/>
                </a:solidFill>
              </a:endParaRPr>
            </a:p>
            <a:p>
              <a:pPr defTabSz="914412"/>
              <a:endParaRPr lang="en-US" sz="2800" dirty="0">
                <a:solidFill>
                  <a:prstClr val="white"/>
                </a:solidFill>
              </a:endParaRPr>
            </a:p>
            <a:p>
              <a:pPr defTabSz="914412"/>
              <a:endParaRPr lang="en-US" sz="2800" dirty="0">
                <a:solidFill>
                  <a:prstClr val="white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57BFE16-2435-4750-9CF8-FC0A4BDB2D72}"/>
                </a:ext>
              </a:extLst>
            </p:cNvPr>
            <p:cNvSpPr txBox="1"/>
            <p:nvPr/>
          </p:nvSpPr>
          <p:spPr>
            <a:xfrm>
              <a:off x="361836" y="1276741"/>
              <a:ext cx="11451073" cy="1320609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marL="285750" lvl="0" indent="-285750" algn="just" fontAlgn="base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cs typeface="Times New Roman" panose="02020603050405020304" pitchFamily="18" charset="0"/>
                </a:rPr>
                <a:t>Omni MSSQL – SQL Server Environment.</a:t>
              </a:r>
            </a:p>
            <a:p>
              <a:pPr lvl="0" algn="just" fontAlgn="base">
                <a:lnSpc>
                  <a:spcPct val="150000"/>
                </a:lnSpc>
              </a:pPr>
              <a:r>
                <a:rPr lang="en-US" dirty="0">
                  <a:cs typeface="Times New Roman" panose="02020603050405020304" pitchFamily="18" charset="0"/>
                </a:rPr>
                <a:t>	- Planned to create</a:t>
              </a:r>
              <a:r>
                <a:rPr lang="en-US" dirty="0"/>
                <a:t> Database and Table Growth report in Power BI</a:t>
              </a:r>
              <a:r>
                <a:rPr lang="en-US" dirty="0">
                  <a:cs typeface="Times New Roman" panose="02020603050405020304" pitchFamily="18" charset="0"/>
                </a:rPr>
                <a:t>.</a:t>
              </a:r>
            </a:p>
            <a:p>
              <a:pPr lvl="0" algn="just" fontAlgn="base">
                <a:lnSpc>
                  <a:spcPct val="150000"/>
                </a:lnSpc>
              </a:pPr>
              <a:r>
                <a:rPr lang="en-US" dirty="0">
                  <a:cs typeface="Times New Roman" panose="02020603050405020304" pitchFamily="18" charset="0"/>
                </a:rPr>
                <a:t>                  - Going to set process for Refresh/Restore Databases.      </a:t>
              </a:r>
            </a:p>
            <a:p>
              <a:pPr algn="just" fontAlgn="base">
                <a:lnSpc>
                  <a:spcPct val="150000"/>
                </a:lnSpc>
              </a:pPr>
              <a:r>
                <a:rPr lang="en-US" dirty="0">
                  <a:cs typeface="Times New Roman" panose="02020603050405020304" pitchFamily="18" charset="0"/>
                </a:rPr>
                <a:t>                  - </a:t>
              </a:r>
              <a:r>
                <a:rPr lang="en-US" dirty="0">
                  <a:solidFill>
                    <a:prstClr val="black"/>
                  </a:solidFill>
                  <a:cs typeface="Times New Roman" panose="02020603050405020304" pitchFamily="18" charset="0"/>
                </a:rPr>
                <a:t>E</a:t>
              </a:r>
              <a:r>
                <a:rPr lang="en-US" dirty="0">
                  <a:solidFill>
                    <a:prstClr val="black"/>
                  </a:solidFill>
                </a:rPr>
                <a:t>xploring </a:t>
              </a:r>
              <a:r>
                <a:rPr lang="en-US" dirty="0">
                  <a:solidFill>
                    <a:srgbClr val="000000"/>
                  </a:solidFill>
                  <a:latin typeface="Calibri" panose="020F0502020204030204" pitchFamily="34" charset="0"/>
                </a:rPr>
                <a:t>OPERA Cloud</a:t>
              </a:r>
              <a:r>
                <a:rPr lang="en-US" dirty="0">
                  <a:cs typeface="Times New Roman" panose="02020603050405020304" pitchFamily="18" charset="0"/>
                </a:rPr>
                <a:t>.</a:t>
              </a:r>
            </a:p>
            <a:p>
              <a:pPr algn="just" fontAlgn="base">
                <a:lnSpc>
                  <a:spcPct val="150000"/>
                </a:lnSpc>
              </a:pPr>
              <a:r>
                <a:rPr lang="en-US" dirty="0">
                  <a:cs typeface="Times New Roman" panose="02020603050405020304" pitchFamily="18" charset="0"/>
                </a:rPr>
                <a:t>                  </a:t>
              </a:r>
            </a:p>
            <a:p>
              <a:pPr lvl="0" algn="just" fontAlgn="base">
                <a:lnSpc>
                  <a:spcPct val="150000"/>
                </a:lnSpc>
              </a:pPr>
              <a:r>
                <a:rPr lang="en-US" dirty="0">
                  <a:cs typeface="Times New Roman" panose="02020603050405020304" pitchFamily="18" charset="0"/>
                </a:rPr>
                <a:t>                 </a:t>
              </a:r>
            </a:p>
            <a:p>
              <a:pPr algn="just" fontAlgn="base">
                <a:lnSpc>
                  <a:spcPct val="150000"/>
                </a:lnSpc>
              </a:pPr>
              <a:r>
                <a:rPr lang="en-US" dirty="0">
                  <a:cs typeface="Times New Roman" panose="02020603050405020304" pitchFamily="18" charset="0"/>
                </a:rPr>
                <a:t>                </a:t>
              </a:r>
            </a:p>
            <a:p>
              <a:pPr algn="just" fontAlgn="base">
                <a:lnSpc>
                  <a:spcPct val="150000"/>
                </a:lnSpc>
              </a:pPr>
              <a:endParaRPr lang="en-US" dirty="0">
                <a:cs typeface="Times New Roman" panose="02020603050405020304" pitchFamily="18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91486AD-B344-477A-8295-C31BBAC6F78E}"/>
                </a:ext>
              </a:extLst>
            </p:cNvPr>
            <p:cNvSpPr/>
            <p:nvPr/>
          </p:nvSpPr>
          <p:spPr>
            <a:xfrm>
              <a:off x="196892" y="1058920"/>
              <a:ext cx="88591" cy="175362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defTabSz="914412"/>
              <a:endParaRPr lang="en-US" sz="2800" dirty="0">
                <a:solidFill>
                  <a:prstClr val="white"/>
                </a:solidFill>
              </a:endParaRP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92FBC5CC-F3C5-4EDF-A326-FFAF1468F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48" y="213317"/>
            <a:ext cx="1562100" cy="59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7294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D:\007 Presales Data\Logos\Icons\handshake22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643467" y="1070780"/>
            <a:ext cx="10905066" cy="4716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FFC004-D836-48CF-B704-0A6B7368B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marR="0" lvl="0" indent="0" fontAlgn="auto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6DF903B1-F80C-4E98-A16A-7F9CC81A4B27}" type="datetime1">
              <a:rPr kumimoji="0" lang="en-US" b="0" i="0" u="none" strike="noStrike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  <a:t>7/2/2025</a:t>
            </a:fld>
            <a:endParaRPr kumimoji="0" lang="en-US" b="0" i="0" u="none" strike="noStrike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3098D9-E540-4956-9417-6FD76FECB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marR="0" lvl="0" indent="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www.zensar.com | © Zensar Technologies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1E989F-7132-4710-BCAC-4A37012C1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marR="0" lvl="0" indent="0" fontAlgn="auto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9AA6ED64-E086-8F49-8C8D-88791C756DA0}" type="slidenum">
              <a:rPr kumimoji="0" lang="en-US" b="0" i="0" u="none" strike="noStrike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  <a:pPr marR="0" lvl="0" indent="0" fontAlgn="auto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b="0" i="0" u="none" strike="noStrike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A7ABA9-6D27-4A3C-836A-A6D69FDD94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57" y="272497"/>
            <a:ext cx="2310173" cy="6549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F4301C-861D-4C12-BA96-04BBE1DFB1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5200" y="351522"/>
            <a:ext cx="3352800" cy="575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173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7b99743-bb8e-4fbf-83fc-c4c23deddf4a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A7E688575A1A48B6C847E7EE237FC6" ma:contentTypeVersion="14" ma:contentTypeDescription="Create a new document." ma:contentTypeScope="" ma:versionID="952e83db63636dd85b5df036d439ccc2">
  <xsd:schema xmlns:xsd="http://www.w3.org/2001/XMLSchema" xmlns:xs="http://www.w3.org/2001/XMLSchema" xmlns:p="http://schemas.microsoft.com/office/2006/metadata/properties" xmlns:ns3="de272a1f-691a-42b3-8214-4d8918bb2043" xmlns:ns4="27b99743-bb8e-4fbf-83fc-c4c23deddf4a" targetNamespace="http://schemas.microsoft.com/office/2006/metadata/properties" ma:root="true" ma:fieldsID="d5116282615d3924a951e057a7c351a9" ns3:_="" ns4:_="">
    <xsd:import namespace="de272a1f-691a-42b3-8214-4d8918bb2043"/>
    <xsd:import namespace="27b99743-bb8e-4fbf-83fc-c4c23deddf4a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_activity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ServiceLocation" minOccurs="0"/>
                <xsd:element ref="ns4:MediaServiceObjectDetectorVersion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272a1f-691a-42b3-8214-4d8918bb204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b99743-bb8e-4fbf-83fc-c4c23deddf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6EC445E-400E-4211-AF35-D90C1A34575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AFC6A3C-FE87-4BBD-8251-A2F84B3FE7BA}">
  <ds:schemaRefs>
    <ds:schemaRef ds:uri="http://schemas.microsoft.com/office/2006/metadata/properties"/>
    <ds:schemaRef ds:uri="http://schemas.microsoft.com/office/2006/documentManagement/types"/>
    <ds:schemaRef ds:uri="de272a1f-691a-42b3-8214-4d8918bb2043"/>
    <ds:schemaRef ds:uri="http://purl.org/dc/terms/"/>
    <ds:schemaRef ds:uri="http://purl.org/dc/dcmitype/"/>
    <ds:schemaRef ds:uri="27b99743-bb8e-4fbf-83fc-c4c23deddf4a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A43D0536-4638-418F-98A4-E956923851F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e272a1f-691a-42b3-8214-4d8918bb2043"/>
    <ds:schemaRef ds:uri="27b99743-bb8e-4fbf-83fc-c4c23deddf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5351</TotalTime>
  <Words>571</Words>
  <Application>Microsoft Office PowerPoint</Application>
  <PresentationFormat>Widescreen</PresentationFormat>
  <Paragraphs>150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Arial,Sans-Serif</vt:lpstr>
      <vt:lpstr>Calibri</vt:lpstr>
      <vt:lpstr>Calibri Light</vt:lpstr>
      <vt:lpstr>Oracle Sans</vt:lpstr>
      <vt:lpstr>Times New Roman</vt:lpstr>
      <vt:lpstr>Wingdings</vt:lpstr>
      <vt:lpstr>Wingdings,Sans-Serif</vt:lpstr>
      <vt:lpstr>Office Theme</vt:lpstr>
      <vt:lpstr>Zensar DBA Shared Support Service Monthly Report – June- 2025</vt:lpstr>
      <vt:lpstr>Table of Content  </vt:lpstr>
      <vt:lpstr>Monthly Highlights EBS  – June 2025   </vt:lpstr>
      <vt:lpstr>Monthly Highlights EBS  – June 2025    </vt:lpstr>
      <vt:lpstr>Monthly Highlights EBS  – June 2025   </vt:lpstr>
      <vt:lpstr>Monthly Highlights EBS  – June 2025    </vt:lpstr>
      <vt:lpstr>Monthly Highlights EBS  – June -2025   </vt:lpstr>
      <vt:lpstr>Summary - Task Analysis</vt:lpstr>
      <vt:lpstr>Upcoming EBS Activities – Next Month</vt:lpstr>
      <vt:lpstr>Highlights SQL Server – June 2025</vt:lpstr>
      <vt:lpstr>Summary - Task Analysis MS SQL Server</vt:lpstr>
      <vt:lpstr>Upcoming MSSQL Activities – Next Month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Zensar DBA Shared Support Service Monthly Report – July’22</dc:title>
  <dc:creator>Kiran Bhilare</dc:creator>
  <cp:lastModifiedBy>Bijja Mahesh</cp:lastModifiedBy>
  <cp:revision>744</cp:revision>
  <dcterms:created xsi:type="dcterms:W3CDTF">2022-08-08T15:15:10Z</dcterms:created>
  <dcterms:modified xsi:type="dcterms:W3CDTF">2025-07-02T08:21:16Z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0x0101002FA7E688575A1A48B6C847E7EE237FC6</vt:lpwstr>
  </property>
</Properties>
</file>